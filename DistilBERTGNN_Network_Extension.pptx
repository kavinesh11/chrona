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29ccb82-2ca8-ac56-a4b3-28b1bbcbd73a}">
          <p14:sldIdLst>
            <p14:sldId id="256"/>
            <p14:sldId id="257"/>
            <p14:sldId id="258"/>
          </p14:sldIdLst>
        </p14:section>
        <p14:section name="Methodology" id="{be8d80a1-0df0-5c45-9d79-2dc2967f362c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Results" id="{9a5521ad-3e90-9c97-2770-67daacf1f6af}">
          <p14:sldIdLst>
            <p14:sldId id="265"/>
            <p14:sldId id="266"/>
            <p14:sldId id="267"/>
          </p14:sldIdLst>
        </p14:section>
        <p14:section name="Extension" id="{c1da4bb0-4d2d-0fff-fd31-e723ce28dc84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Closing" id="{d2f50636-95ae-542f-b68a-7d64b98d3669}">
          <p14:sldIdLst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NMI</c:v>
                </c:pt>
              </c:strCache>
            </c:strRef>
          </c:tx>
          <c:spPr>
            <a:solidFill>
              <a:srgbClr val="6B6B6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6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FD6D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FD6D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FD6D1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3FD6D1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E93A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Word2Vec</c:v>
                  </c:pt>
                  <c:pt idx="1">
                    <c:v>LDA</c:v>
                  </c:pt>
                  <c:pt idx="2">
                    <c:v>WMD</c:v>
                  </c:pt>
                  <c:pt idx="3">
                    <c:v>BERT</c:v>
                  </c:pt>
                  <c:pt idx="4">
                    <c:v>BiLSTM</c:v>
                  </c:pt>
                  <c:pt idx="5">
                    <c:v>PP-GCN</c:v>
                  </c:pt>
                  <c:pt idx="6">
                    <c:v>EventX</c:v>
                  </c:pt>
                  <c:pt idx="7">
                    <c:v>KPGNN</c:v>
                  </c:pt>
                  <c:pt idx="8">
                    <c:v>QSGNN</c:v>
                  </c:pt>
                  <c:pt idx="9">
                    <c:v>DistilBERT-GNN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0.44</c:v>
                </c:pt>
                <c:pt idx="1">
                  <c:v>0.29</c:v>
                </c:pt>
                <c:pt idx="2">
                  <c:v>0.65</c:v>
                </c:pt>
                <c:pt idx="3">
                  <c:v>0.64</c:v>
                </c:pt>
                <c:pt idx="4">
                  <c:v>0.63</c:v>
                </c:pt>
                <c:pt idx="5">
                  <c:v>0.68</c:v>
                </c:pt>
                <c:pt idx="6">
                  <c:v>0.72</c:v>
                </c:pt>
                <c:pt idx="7">
                  <c:v>0.7</c:v>
                </c:pt>
                <c:pt idx="8">
                  <c:v>0.7</c:v>
                </c:pt>
                <c:pt idx="9">
                  <c:v>0.72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616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61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Structure — Louvain on the message graph</c:v>
                </c:pt>
              </c:strCache>
            </c:strRef>
          </c:tx>
          <c:spPr>
            <a:solidFill>
              <a:srgbClr val="3FD6D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6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NMI</c:v>
                  </c:pt>
                  <c:pt idx="1">
                    <c:v>AMI</c:v>
                  </c:pt>
                  <c:pt idx="2">
                    <c:v>ARI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0.644</c:v>
                </c:pt>
                <c:pt idx="1">
                  <c:v>0.468</c:v>
                </c:pt>
                <c:pt idx="2">
                  <c:v>0.362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Content — KMeans on DistilBERT embeddings</c:v>
                </c:pt>
              </c:strCache>
            </c:strRef>
          </c:tx>
          <c:spPr>
            <a:solidFill>
              <a:srgbClr val="C9E9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6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NMI</c:v>
                  </c:pt>
                  <c:pt idx="1">
                    <c:v>AMI</c:v>
                  </c:pt>
                  <c:pt idx="2">
                    <c:v>ARI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0.638</c:v>
                </c:pt>
                <c:pt idx="1">
                  <c:v>0.533</c:v>
                </c:pt>
                <c:pt idx="2">
                  <c:v>0.361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16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6161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6161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ge">
    <p:bg>
      <p:bgPr>
        <a:solidFill>
          <a:srgbClr val="B6C9C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team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5256" y="923544"/>
            <a:ext cx="2148840" cy="45720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841248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8412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 CASE STUDY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317736" y="585216"/>
            <a:ext cx="2148840" cy="45720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7" name="Shape 5"/>
          <p:cNvSpPr/>
          <p:nvPr/>
        </p:nvSpPr>
        <p:spPr>
          <a:xfrm>
            <a:off x="9235440" y="50292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235440" y="502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2026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1883664"/>
            <a:ext cx="365760" cy="-109728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773936"/>
            <a:ext cx="320040" cy="182880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1883664"/>
            <a:ext cx="137160" cy="25603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45920" y="1956816"/>
            <a:ext cx="-182880" cy="25603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" y="2139696"/>
            <a:ext cx="365760" cy="7315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63040" y="2212848"/>
            <a:ext cx="228600" cy="146304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97280" y="2139696"/>
            <a:ext cx="-182880" cy="219456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7824" y="1801368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43584" y="1691640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63624" y="1874520"/>
            <a:ext cx="164592" cy="164592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4984" y="2057400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80744" y="2130552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9344" y="2276856"/>
            <a:ext cx="164592" cy="164592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104" y="2276856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251460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DistilBERT-GNN</a:t>
            </a:r>
            <a:endParaRPr lang="en-US" sz="54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361188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Network Analysis of Incremental Social-Media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Detection — with results on the real 68,841-tweet benchmark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7150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Kavinesh P  ·  KSV Siddardha  ·  Adith Narayan G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605332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Network Analysis — Case Study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569757" y="2386584"/>
            <a:ext cx="839419" cy="-404165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09176" y="1982419"/>
            <a:ext cx="932688" cy="310896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41864" y="2293315"/>
            <a:ext cx="839419" cy="559613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69757" y="2386584"/>
            <a:ext cx="373075" cy="839419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409176" y="1982419"/>
            <a:ext cx="-466344" cy="1243584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341864" y="2293315"/>
            <a:ext cx="-466344" cy="870509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181283" y="2852928"/>
            <a:ext cx="-435254" cy="559613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42832" y="3226003"/>
            <a:ext cx="932688" cy="-62179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75520" y="3163824"/>
            <a:ext cx="870509" cy="248717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42832" y="3226003"/>
            <a:ext cx="-248717" cy="932688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75520" y="3163824"/>
            <a:ext cx="-310896" cy="1181405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746029" y="3412541"/>
            <a:ext cx="-310896" cy="683971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694115" y="4158691"/>
            <a:ext cx="870509" cy="186538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564624" y="4345229"/>
            <a:ext cx="870509" cy="-248717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435133" y="4096512"/>
            <a:ext cx="746150" cy="373075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94115" y="4158691"/>
            <a:ext cx="559613" cy="808330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564624" y="4345229"/>
            <a:ext cx="-310896" cy="621792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435133" y="4096512"/>
            <a:ext cx="-248717" cy="777240"/>
          </a:xfrm>
          <a:prstGeom prst="line">
            <a:avLst/>
          </a:prstGeom>
          <a:noFill/>
          <a:ln w="15875">
            <a:solidFill>
              <a:srgbClr val="C9CFC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14309" y="2231136"/>
            <a:ext cx="310896" cy="310896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253728" y="1826971"/>
            <a:ext cx="310896" cy="310896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186416" y="2137867"/>
            <a:ext cx="310896" cy="310896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025835" y="2697480"/>
            <a:ext cx="310896" cy="310896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787384" y="3070555"/>
            <a:ext cx="310896" cy="310896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720072" y="3008376"/>
            <a:ext cx="310896" cy="310896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590581" y="3257093"/>
            <a:ext cx="310896" cy="310896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38667" y="4003243"/>
            <a:ext cx="310896" cy="310896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409176" y="4189781"/>
            <a:ext cx="310896" cy="310896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279685" y="3941064"/>
            <a:ext cx="310896" cy="310896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1025835" y="4314139"/>
            <a:ext cx="310896" cy="310896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098280" y="4811573"/>
            <a:ext cx="310896" cy="310896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030968" y="4718304"/>
            <a:ext cx="310896" cy="310896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001000" y="1051560"/>
            <a:ext cx="3566160" cy="73152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59" name="Text 57"/>
          <p:cNvSpPr txBox="1"/>
          <p:nvPr/>
        </p:nvSpPr>
        <p:spPr>
          <a:xfrm>
            <a:off x="8092440" y="109728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 = COMMUNITIES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GRAPH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" y="630936"/>
            <a:ext cx="2286000" cy="54864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54864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548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MODELED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429000" y="548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Message Network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1325880"/>
            <a:ext cx="1447678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325880"/>
            <a:ext cx="13562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users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398654" y="1325880"/>
            <a:ext cx="1683868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44374" y="1325880"/>
            <a:ext cx="15924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entities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10538" y="1325880"/>
            <a:ext cx="1683868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56258" y="1325880"/>
            <a:ext cx="15924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keywords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05256" y="2551176"/>
            <a:ext cx="2286000" cy="54864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246888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468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4688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Twitter Event Streams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246120"/>
            <a:ext cx="1683868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246120"/>
            <a:ext cx="15924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68,841 messages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634844" y="3246120"/>
            <a:ext cx="1920057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80564" y="3246120"/>
            <a:ext cx="18286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503 labeled events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82917" y="3246120"/>
            <a:ext cx="1526408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8637" y="3246120"/>
            <a:ext cx="1434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28-day window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56" y="4471416"/>
            <a:ext cx="2286000" cy="54864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22960" y="43891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389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ANSWER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429000" y="43891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Questions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822960" y="5166360"/>
            <a:ext cx="2943545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8680" y="5166360"/>
            <a:ext cx="28521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structure beat text alone?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894521" y="5166360"/>
            <a:ext cx="3101005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40241" y="5166360"/>
            <a:ext cx="30095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the model filter out?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2960" y="5678424"/>
            <a:ext cx="436068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5678424"/>
            <a:ext cx="42692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learning add over a classical baseline?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2002536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2752344" y="502920"/>
            <a:ext cx="2514600" cy="713232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2825496" y="548640"/>
            <a:ext cx="242316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508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network analysis treats a tweet not as isolated text, but as a node whose meaning is disambiguated by its relational context — who posted it, which other messages share its named entities, which share its vocabulary. DistilBERT-GNN makes that relational context explicit: it builds a message graph, filters it, learns attention-weighted representations over it, and recovers events as communities within it.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822960" y="2971800"/>
            <a:ext cx="2542032" cy="2651760"/>
          </a:xfrm>
          <a:prstGeom prst="roundRect">
            <a:avLst>
              <a:gd name="adj" fmla="val 4317"/>
            </a:avLst>
          </a:prstGeom>
          <a:solidFill>
            <a:srgbClr val="F3F3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24128" y="3112618"/>
            <a:ext cx="21396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Heterogeneous Info Network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4085539"/>
            <a:ext cx="21396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Messages, users, entities and keywords as nodes; edges connect a message to what it contains.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566160" y="2971800"/>
            <a:ext cx="2542032" cy="2651760"/>
          </a:xfrm>
          <a:prstGeom prst="roundRect">
            <a:avLst>
              <a:gd name="adj" fmla="val 4317"/>
            </a:avLst>
          </a:prstGeom>
          <a:solidFill>
            <a:srgbClr val="F3F3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67328" y="3112618"/>
            <a:ext cx="21396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Homogeneous message graph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767328" y="4085539"/>
            <a:ext cx="21396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HIN projected so two messages connect if they share a user, entity, or keyword.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309360" y="2971800"/>
            <a:ext cx="2542032" cy="2651760"/>
          </a:xfrm>
          <a:prstGeom prst="roundRect">
            <a:avLst>
              <a:gd name="adj" fmla="val 4317"/>
            </a:avLst>
          </a:prstGeom>
          <a:solidFill>
            <a:srgbClr val="F3F3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3112618"/>
            <a:ext cx="21396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filtering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4085539"/>
            <a:ext cx="21396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confidence or graph centrality decides which messages are kept before training.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052560" y="2971800"/>
            <a:ext cx="2542032" cy="2651760"/>
          </a:xfrm>
          <a:prstGeom prst="roundRect">
            <a:avLst>
              <a:gd name="adj" fmla="val 4317"/>
            </a:avLst>
          </a:prstGeom>
          <a:solidFill>
            <a:srgbClr val="F3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53728" y="3112618"/>
            <a:ext cx="21396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detection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253728" y="4085539"/>
            <a:ext cx="213969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/ K-Means over learned embeddings recovers events as graph communities.</a:t>
            </a:r>
            <a:endParaRPr lang="en-US" sz="1080" dirty="0"/>
          </a:p>
        </p:txBody>
      </p:sp>
      <p:sp>
        <p:nvSpPr>
          <p:cNvPr id="18" name="Text 1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368503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462272" y="576072"/>
            <a:ext cx="2423160" cy="566928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07992" y="502920"/>
            <a:ext cx="242316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931152" y="502920"/>
            <a:ext cx="4105656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spc="5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BUILT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024128" y="1618488"/>
            <a:ext cx="274320" cy="274320"/>
          </a:xfrm>
          <a:prstGeom prst="ellipse">
            <a:avLst/>
          </a:prstGeom>
          <a:solidFill>
            <a:srgbClr val="3FD6D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15453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nodes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1417320"/>
            <a:ext cx="3520440" cy="1965960"/>
          </a:xfrm>
          <a:prstGeom prst="roundRect">
            <a:avLst>
              <a:gd name="adj" fmla="val 4651"/>
            </a:avLst>
          </a:prstGeom>
          <a:ln w="12700">
            <a:solidFill>
              <a:srgbClr val="E1E1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21031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tweet, its users, named entities (via NER) and keywords become nodes in a heterogeneous network.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727448" y="1618488"/>
            <a:ext cx="274320" cy="274320"/>
          </a:xfrm>
          <a:prstGeom prst="ellipse">
            <a:avLst/>
          </a:prstGeom>
          <a:solidFill>
            <a:srgbClr val="C9E9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20640" y="15453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/ entity / keyword edges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520440" cy="1965960"/>
          </a:xfrm>
          <a:prstGeom prst="roundRect">
            <a:avLst>
              <a:gd name="adj" fmla="val 4651"/>
            </a:avLst>
          </a:prstGeom>
          <a:ln w="12700">
            <a:solidFill>
              <a:srgbClr val="E1E1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1031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messages connect if they share a user, an entity, or a keyword — A[i,j] = min{Σₖ Wₘₖ·Wₘₖᵀ, 1}.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8430768" y="1618488"/>
            <a:ext cx="274320" cy="274320"/>
          </a:xfrm>
          <a:prstGeom prst="ellipse">
            <a:avLst/>
          </a:prstGeom>
          <a:solidFill>
            <a:srgbClr val="3FD6D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823960" y="15453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 filtering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1417320"/>
            <a:ext cx="3520440" cy="1965960"/>
          </a:xfrm>
          <a:prstGeom prst="roundRect">
            <a:avLst>
              <a:gd name="adj" fmla="val 4651"/>
            </a:avLst>
          </a:prstGeom>
          <a:ln w="12700">
            <a:solidFill>
              <a:srgbClr val="E1E1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03920" y="21031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sentiment confidence &gt; 50% keeps a message; low-confidence nodes are dropped as noise.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1024128" y="3767328"/>
            <a:ext cx="274320" cy="274320"/>
          </a:xfrm>
          <a:prstGeom prst="ellipse">
            <a:avLst/>
          </a:prstGeom>
          <a:solidFill>
            <a:srgbClr val="C9E93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417320" y="36941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 filtering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3566160"/>
            <a:ext cx="3520440" cy="1965960"/>
          </a:xfrm>
          <a:prstGeom prst="roundRect">
            <a:avLst>
              <a:gd name="adj" fmla="val 4651"/>
            </a:avLst>
          </a:prstGeom>
          <a:ln w="12700">
            <a:solidFill>
              <a:srgbClr val="E1E1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42519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+ closeness + betweenness centrality combined; nodes below the 50th percentile are removed.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4727448" y="3767328"/>
            <a:ext cx="274320" cy="274320"/>
          </a:xfrm>
          <a:prstGeom prst="ellipse">
            <a:avLst/>
          </a:prstGeom>
          <a:solidFill>
            <a:srgbClr val="3FD6D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120640" y="36941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Attention-weighted passing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26280" y="3566160"/>
            <a:ext cx="3520440" cy="1965960"/>
          </a:xfrm>
          <a:prstGeom prst="roundRect">
            <a:avLst>
              <a:gd name="adj" fmla="val 4651"/>
            </a:avLst>
          </a:prstGeom>
          <a:ln w="12700">
            <a:solidFill>
              <a:srgbClr val="E1E1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42519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2-layer, 4-head Graph Attention Network learns a per-neighbor weight for message passing.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8430768" y="3767328"/>
            <a:ext cx="274320" cy="274320"/>
          </a:xfrm>
          <a:prstGeom prst="ellipse">
            <a:avLst/>
          </a:prstGeom>
          <a:solidFill>
            <a:srgbClr val="C9E93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823960" y="36941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maintenance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229600" y="3566160"/>
            <a:ext cx="3520440" cy="1965960"/>
          </a:xfrm>
          <a:prstGeom prst="roundRect">
            <a:avLst>
              <a:gd name="adj" fmla="val 4651"/>
            </a:avLst>
          </a:prstGeom>
          <a:ln w="12700">
            <a:solidFill>
              <a:srgbClr val="E1E1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03920" y="425196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Pre-training → detection → maintenance keeps the graph current without retraining from scratch.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46304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148840" y="576072"/>
            <a:ext cx="2468880" cy="50292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194560" y="502920"/>
            <a:ext cx="411480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DIFFER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2514600" cy="868680"/>
          </a:xfrm>
          <a:prstGeom prst="roundRect">
            <a:avLst>
              <a:gd name="adj" fmla="val 10526"/>
            </a:avLst>
          </a:prstGeom>
          <a:solidFill>
            <a:srgbClr val="F3F3E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600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Feature-pivot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2034540"/>
            <a:ext cx="228600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566160" y="1600200"/>
            <a:ext cx="2514600" cy="868680"/>
          </a:xfrm>
          <a:prstGeom prst="roundRect">
            <a:avLst>
              <a:gd name="adj" fmla="val 10526"/>
            </a:avLst>
          </a:prstGeom>
          <a:solidFill>
            <a:srgbClr val="F3F3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57600" y="1600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Document-pivot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2034540"/>
            <a:ext cx="228600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09360" y="1600200"/>
            <a:ext cx="2514600" cy="868680"/>
          </a:xfrm>
          <a:prstGeom prst="roundRect">
            <a:avLst>
              <a:gd name="adj" fmla="val 10526"/>
            </a:avLst>
          </a:prstGeom>
          <a:solidFill>
            <a:srgbClr val="8FE6E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0" y="1600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Graph-based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(PP-GCN, KPGNN, QSGNN)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23960" y="2034540"/>
            <a:ext cx="228600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052560" y="1600200"/>
            <a:ext cx="2514600" cy="868680"/>
          </a:xfrm>
          <a:prstGeom prst="roundRect">
            <a:avLst>
              <a:gd name="adj" fmla="val 10526"/>
            </a:avLst>
          </a:prstGeom>
          <a:solidFill>
            <a:srgbClr val="C9E9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0" y="1600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DistilBERT-GNN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1216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Exploits network structure →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2788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“Neither keyword co-occurrence nor topic similarity alone exploits the network structure of social platforms — graph-based approaches address this by building message graphs.” — README §1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20440"/>
            <a:ext cx="5074920" cy="2103120"/>
          </a:xfrm>
          <a:prstGeom prst="roundRect">
            <a:avLst>
              <a:gd name="adj" fmla="val 5217"/>
            </a:avLst>
          </a:prstGeom>
          <a:solidFill>
            <a:srgbClr val="F3F3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24128" y="3661258"/>
            <a:ext cx="46725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CONTENT-ONLY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4403750"/>
            <a:ext cx="4672584" cy="10991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Word2Vec, LDA, WMD, BERT, BiLSTM — group messages by what they say, ignoring who posted and how posts relate.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80760" y="3520440"/>
            <a:ext cx="5257800" cy="2103120"/>
          </a:xfrm>
          <a:prstGeom prst="roundRect">
            <a:avLst>
              <a:gd name="adj" fmla="val 5217"/>
            </a:avLst>
          </a:prstGeom>
          <a:solidFill>
            <a:srgbClr val="E9F4A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81928" y="3661258"/>
            <a:ext cx="48554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GRAPH-BASED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81928" y="4403750"/>
            <a:ext cx="4855464" cy="10991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PP-GCN, KPGNN, QSGNN, DistilBERT-GNN — connect messages through shared users, entities and keywords before clustering.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" y="5852160"/>
            <a:ext cx="10515600" cy="68580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1005840" y="589788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is sufficient alone: DistilBERT-GNN's edge comes from combining content-based filtering with graph structure.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2708" y="1289304"/>
            <a:ext cx="475488" cy="-178308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68196" y="1110996"/>
            <a:ext cx="416052" cy="297180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2708" y="1289304"/>
            <a:ext cx="178308" cy="41605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84248" y="1408176"/>
            <a:ext cx="-237744" cy="41605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71016" y="1705356"/>
            <a:ext cx="475488" cy="11887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46504" y="1824228"/>
            <a:ext cx="297180" cy="237744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71016" y="1705356"/>
            <a:ext cx="-237744" cy="356616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0412" y="1207008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1028700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1952" y="1325880"/>
            <a:ext cx="164592" cy="164592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88720" y="1623060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64208" y="1741932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61388" y="1979676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1979676"/>
            <a:ext cx="164592" cy="164592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17520" y="2423160"/>
            <a:ext cx="2293315" cy="86868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17520" y="2331720"/>
            <a:ext cx="2567635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</a:t>
            </a:r>
            <a:endParaRPr lang="en-US" sz="6400" dirty="0"/>
          </a:p>
        </p:txBody>
      </p:sp>
      <p:sp>
        <p:nvSpPr>
          <p:cNvPr id="18" name="Shape 16"/>
          <p:cNvSpPr/>
          <p:nvPr/>
        </p:nvSpPr>
        <p:spPr>
          <a:xfrm>
            <a:off x="2926080" y="3566160"/>
            <a:ext cx="8533181" cy="109728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3108960" y="3474720"/>
            <a:ext cx="8533181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?</a:t>
            </a:r>
            <a:endParaRPr lang="en-US" sz="6400" dirty="0"/>
          </a:p>
        </p:txBody>
      </p:sp>
      <p:sp>
        <p:nvSpPr>
          <p:cNvPr id="20" name="Text 1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3291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VOCABULARY</a:t>
            </a:r>
            <a:endParaRPr lang="en-US" sz="24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43400" y="640080"/>
            <a:ext cx="653796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44568" y="780898"/>
            <a:ext cx="6135624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Slang &amp; Abbreviations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44568" y="1166226"/>
            <a:ext cx="6135624" cy="605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keyword-based edges unless message representations are learned contextually.</a:t>
            </a:r>
            <a:endParaRPr lang="en-US" sz="1080" dirty="0"/>
          </a:p>
        </p:txBody>
      </p:sp>
      <p:sp>
        <p:nvSpPr>
          <p:cNvPr id="6" name="Text 4"/>
          <p:cNvSpPr txBox="1"/>
          <p:nvPr/>
        </p:nvSpPr>
        <p:spPr>
          <a:xfrm>
            <a:off x="7589520" y="2121408"/>
            <a:ext cx="3291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</a:t>
            </a:r>
            <a:endParaRPr lang="en-US" sz="2400" dirty="0"/>
          </a:p>
          <a:p>
            <a:pPr algn="r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121408"/>
            <a:ext cx="653796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24128" y="2262226"/>
            <a:ext cx="6135624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 Signal Per Node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2647554"/>
            <a:ext cx="6135624" cy="605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tweets carry little information — the graph structure around a node must carry more of the weight.</a:t>
            </a:r>
            <a:endParaRPr lang="en-US" sz="108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02736"/>
            <a:ext cx="3291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</a:t>
            </a:r>
            <a:endParaRPr lang="en-US" sz="24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ARRIVAL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343400" y="3602736"/>
            <a:ext cx="653796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44568" y="3743554"/>
            <a:ext cx="6135624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Moving Target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44568" y="4128882"/>
            <a:ext cx="6135624" cy="605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nodes and edges keep arriving; the graph must update and re-cluster incrementally, without retraining from scratch.</a:t>
            </a:r>
            <a:endParaRPr lang="en-US" sz="108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5084064"/>
            <a:ext cx="3291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</a:t>
            </a:r>
            <a:endParaRPr lang="en-US" sz="2400" dirty="0"/>
          </a:p>
          <a:p>
            <a:pPr algn="r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5084064"/>
            <a:ext cx="6537960" cy="1252728"/>
          </a:xfrm>
          <a:prstGeom prst="roundRect">
            <a:avLst>
              <a:gd name="adj" fmla="val 8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024128" y="5224882"/>
            <a:ext cx="6135624" cy="501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Message Matters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610210"/>
            <a:ext cx="6135624" cy="605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Peripheral, low-signal messages dilute message passing unless filtered before the graph is built.</a:t>
            </a:r>
            <a:endParaRPr lang="en-US" sz="1080" dirty="0"/>
          </a:p>
        </p:txBody>
      </p:sp>
      <p:sp>
        <p:nvSpPr>
          <p:cNvPr id="18" name="Text 1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24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343400" y="685800"/>
            <a:ext cx="6537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44568" y="826618"/>
            <a:ext cx="61356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History to Keep?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544568" y="1242670"/>
            <a:ext cx="6135624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every historical node is the worst-performing, most expensive maintenance strategy (README §4).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589520" y="22860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2400" dirty="0"/>
          </a:p>
          <a:p>
            <a:pPr algn="r" indent="0" marL="0">
              <a:lnSpc>
                <a:spcPct val="98000"/>
              </a:lnSpc>
              <a:buNone/>
            </a:pPr>
            <a:r>
              <a:rPr lang="en-US" sz="2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CHOICE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286000"/>
            <a:ext cx="65379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24128" y="2426818"/>
            <a:ext cx="61356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or Structure?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2842870"/>
            <a:ext cx="6135624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Sentiment-based and centrality-based filtering are two different theories of which nodes matter.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4069080"/>
            <a:ext cx="10515600" cy="178308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097280" y="42793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COMPOUND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8006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that keeps everything dilutes the signal for new events, and a model that can't filter noise can't find the community either.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37160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148840" y="411480"/>
            <a:ext cx="2834640" cy="77724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2240280" y="502920"/>
            <a:ext cx="274320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ARGUMENT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46304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social-media content as a network problem — not just a text-classification problem — measurably improves event detection.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3383280" cy="3337560"/>
          </a:xfrm>
          <a:prstGeom prst="roundRect">
            <a:avLst>
              <a:gd name="adj" fmla="val 3288"/>
            </a:avLst>
          </a:prstGeom>
          <a:solidFill>
            <a:srgbClr val="F3F3E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24128" y="2472538"/>
            <a:ext cx="298094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CARRIES SIGNAL</a:t>
            </a:r>
            <a:endParaRPr lang="en-US" sz="1350" dirty="0"/>
          </a:p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ALONE DOESN'T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3733495"/>
            <a:ext cx="2980944" cy="18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methods beat text-only methods on AMI/ARI — messages that merely sound similar are not the same as messages that are structurally linked.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434840" y="2331720"/>
            <a:ext cx="3383280" cy="3337560"/>
          </a:xfrm>
          <a:prstGeom prst="roundRect">
            <a:avLst>
              <a:gd name="adj" fmla="val 3288"/>
            </a:avLst>
          </a:prstGeom>
          <a:solidFill>
            <a:srgbClr val="E9F4A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36008" y="2472538"/>
            <a:ext cx="298094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FILTERING MATTERS AS MUCH</a:t>
            </a:r>
            <a:endParaRPr lang="en-US" sz="1350" dirty="0"/>
          </a:p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CONNECTING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3733495"/>
            <a:ext cx="2980944" cy="18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DistilBERT-GNN's edge over KPGNN/QSGNN comes from removing noisy nodes before message passing, not from a bigger graph.</a:t>
            </a:r>
            <a:endParaRPr lang="en-US" sz="1130" dirty="0"/>
          </a:p>
        </p:txBody>
      </p:sp>
      <p:sp>
        <p:nvSpPr>
          <p:cNvPr id="12" name="Shape 10"/>
          <p:cNvSpPr/>
          <p:nvPr/>
        </p:nvSpPr>
        <p:spPr>
          <a:xfrm>
            <a:off x="8046720" y="2331720"/>
            <a:ext cx="3383280" cy="3337560"/>
          </a:xfrm>
          <a:prstGeom prst="roundRect">
            <a:avLst>
              <a:gd name="adj" fmla="val 3288"/>
            </a:avLst>
          </a:prstGeom>
          <a:solidFill>
            <a:srgbClr val="F3F3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7888" y="2472538"/>
            <a:ext cx="2980944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MUST BE</a:t>
            </a:r>
            <a:endParaRPr lang="en-US" sz="1350" dirty="0"/>
          </a:p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MAINTAINED, NOT JUST GROWN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3733495"/>
            <a:ext cx="2980944" cy="18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more historical structure around does not help — old, irrelevant ties dilute the signal for new communities.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" y="630936"/>
            <a:ext cx="2286000" cy="54864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54864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548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EVALUATED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3429000" y="548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Baselines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1325880"/>
            <a:ext cx="1102766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325880"/>
            <a:ext cx="10113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53742" y="1325880"/>
            <a:ext cx="72786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99462" y="1325880"/>
            <a:ext cx="6364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909621" y="1325880"/>
            <a:ext cx="72786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55341" y="1325880"/>
            <a:ext cx="6364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65499" y="1325880"/>
            <a:ext cx="802843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11219" y="1325880"/>
            <a:ext cx="7114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96358" y="1325880"/>
            <a:ext cx="952805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42078" y="1325880"/>
            <a:ext cx="8613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BiLSTM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77179" y="1325880"/>
            <a:ext cx="952805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22899" y="1325880"/>
            <a:ext cx="8613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PP-GCN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0" y="1325880"/>
            <a:ext cx="952805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1325880"/>
            <a:ext cx="8613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938821" y="132588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84541" y="13258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KPGNN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44661" y="132588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90381" y="13258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QSGNN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2960" y="1837944"/>
            <a:ext cx="1552651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1837944"/>
            <a:ext cx="14612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DistilBERT-GNN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5256" y="2551176"/>
            <a:ext cx="2286000" cy="54864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22960" y="246888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2468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3429000" y="2468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Incremental Blocks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822960" y="3246120"/>
            <a:ext cx="1102766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246120"/>
            <a:ext cx="10113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→ M21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053742" y="3246120"/>
            <a:ext cx="2077517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099462" y="3246120"/>
            <a:ext cx="19860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+ online eval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259275" y="32461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304995" y="3246120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runs averaged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05256" y="4471416"/>
            <a:ext cx="2286000" cy="54864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37" name="Shape 35"/>
          <p:cNvSpPr/>
          <p:nvPr/>
        </p:nvSpPr>
        <p:spPr>
          <a:xfrm>
            <a:off x="822960" y="438912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22960" y="4389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342900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Metrics</a:t>
            </a:r>
            <a:endParaRPr lang="en-US" sz="2200" dirty="0"/>
          </a:p>
        </p:txBody>
      </p:sp>
      <p:sp>
        <p:nvSpPr>
          <p:cNvPr id="40" name="Shape 38"/>
          <p:cNvSpPr/>
          <p:nvPr/>
        </p:nvSpPr>
        <p:spPr>
          <a:xfrm>
            <a:off x="822960" y="5166360"/>
            <a:ext cx="72786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68680" y="5166360"/>
            <a:ext cx="6364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NMI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678838" y="5166360"/>
            <a:ext cx="72786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724558" y="5166360"/>
            <a:ext cx="6364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534717" y="5166360"/>
            <a:ext cx="727862" cy="384048"/>
          </a:xfrm>
          <a:prstGeom prst="roundRect">
            <a:avLst>
              <a:gd name="adj" fmla="val 50000"/>
            </a:avLst>
          </a:prstGeom>
          <a:solidFill>
            <a:srgbClr val="F3F3EF"/>
          </a:solidFill>
          <a:ln w="9525">
            <a:solidFill>
              <a:srgbClr val="D8D8D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580437" y="5166360"/>
            <a:ext cx="6364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46304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148840" y="530352"/>
            <a:ext cx="3200400" cy="45720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194560" y="457200"/>
            <a:ext cx="512064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 SHOW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NMI, whole graph evaluated at once (README §4, as reported in the base paper)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600200"/>
          <a:ext cx="105156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22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343400" y="548640"/>
            <a:ext cx="6537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544568" y="689458"/>
            <a:ext cx="6135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Graph-Based Beats Text-Only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544568" y="1182319"/>
            <a:ext cx="613562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AMI/ARI, graph-based methods clearly separate the group from Word2Vec, LDA, WMD, BERT and BiLSTM.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589520" y="233172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FILTERING</a:t>
            </a:r>
            <a:endParaRPr lang="en-US" sz="2200" dirty="0"/>
          </a:p>
          <a:p>
            <a:pPr algn="r" indent="0" marL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MATTERS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6537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24128" y="2472538"/>
            <a:ext cx="6135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Removal Is the Edge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2965399"/>
            <a:ext cx="613562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DistilBERT-GNN's lead over KPGNN/QSGNN comes from node filtering removing noisy nodes before message passing.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11480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2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HURTS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43400" y="4114800"/>
            <a:ext cx="6537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44568" y="4255618"/>
            <a:ext cx="6135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Latest, Not Keep All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44568" y="4748479"/>
            <a:ext cx="613562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only on the most recent block outperforms keeping the full history — old ties dilute new signal.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2708" y="1243584"/>
            <a:ext cx="475488" cy="-178308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568196" y="1065276"/>
            <a:ext cx="416052" cy="297180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2708" y="1243584"/>
            <a:ext cx="178308" cy="41605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84248" y="1362456"/>
            <a:ext cx="-237744" cy="41605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71016" y="1659636"/>
            <a:ext cx="475488" cy="118872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46504" y="1778508"/>
            <a:ext cx="297180" cy="237744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71016" y="1659636"/>
            <a:ext cx="-237744" cy="356616"/>
          </a:xfrm>
          <a:prstGeom prst="line">
            <a:avLst/>
          </a:prstGeom>
          <a:noFill/>
          <a:ln w="15875">
            <a:solidFill>
              <a:srgbClr val="D8D8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0412" y="1161288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82980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1952" y="1280160"/>
            <a:ext cx="164592" cy="164592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88720" y="1577340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64208" y="1696212"/>
            <a:ext cx="164592" cy="164592"/>
          </a:xfrm>
          <a:prstGeom prst="ellipse">
            <a:avLst/>
          </a:prstGeom>
          <a:solidFill>
            <a:srgbClr val="3FD6D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61388" y="1933956"/>
            <a:ext cx="164592" cy="164592"/>
          </a:xfrm>
          <a:prstGeom prst="ellipse">
            <a:avLst/>
          </a:prstGeom>
          <a:solidFill>
            <a:srgbClr val="C9E9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1933956"/>
            <a:ext cx="164592" cy="164592"/>
          </a:xfrm>
          <a:prstGeom prst="ellipse">
            <a:avLst/>
          </a:prstGeom>
          <a:solidFill>
            <a:srgbClr val="1616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17520" y="2377440"/>
            <a:ext cx="2293315" cy="86868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17520" y="2286000"/>
            <a:ext cx="2567635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</a:t>
            </a:r>
            <a:endParaRPr lang="en-US" sz="6400" dirty="0"/>
          </a:p>
        </p:txBody>
      </p:sp>
      <p:sp>
        <p:nvSpPr>
          <p:cNvPr id="18" name="Shape 16"/>
          <p:cNvSpPr/>
          <p:nvPr/>
        </p:nvSpPr>
        <p:spPr>
          <a:xfrm>
            <a:off x="2926080" y="3520440"/>
            <a:ext cx="7860182" cy="109728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3108960" y="3429000"/>
            <a:ext cx="7860182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 !</a:t>
            </a:r>
            <a:endParaRPr lang="en-US" sz="64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ran the full pipeline on the real 68,841-tweet benchmark — here is what it found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55448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286000" y="530352"/>
            <a:ext cx="1463040" cy="45720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331720" y="457200"/>
            <a:ext cx="146304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3703320" y="457200"/>
            <a:ext cx="411480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TWO LENSES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05256" y="1408176"/>
            <a:ext cx="4114800" cy="50292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3258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258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LENS A — NETWORKX + GEPHI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201168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3F3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0116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homogeneous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graph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4680" y="2446020"/>
            <a:ext cx="210312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64992" y="201168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3F3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0116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nx Louvain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detection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96712" y="2446020"/>
            <a:ext cx="210312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907024" y="201168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3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98464" y="20116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by modularity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in Gephi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38744" y="2446020"/>
            <a:ext cx="210312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449056" y="201168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3F3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40496" y="20116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high-res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301752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text, no embeddings, no learning — pure topology.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5256" y="3602736"/>
            <a:ext cx="4114800" cy="50292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22" name="Shape 20"/>
          <p:cNvSpPr/>
          <p:nvPr/>
        </p:nvSpPr>
        <p:spPr>
          <a:xfrm>
            <a:off x="822960" y="352044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35204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LENS B — DISTILBERT-GNN (OURS)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420624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E9F4A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42062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graph +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filtering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54680" y="4640580"/>
            <a:ext cx="210312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4992" y="420624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E9F4A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456432" y="42062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2-layer, 4-head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96712" y="4640580"/>
            <a:ext cx="210312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907024" y="420624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E9F4A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98464" y="42062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triplet +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global-local loss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238744" y="4640580"/>
            <a:ext cx="210312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449056" y="420624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E9F4A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540496" y="42062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/ K-Means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= events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5212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which neighbors matter, and clusters by learned representation.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22960" y="5715000"/>
            <a:ext cx="10515600" cy="86868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1051560" y="5760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ran Lens A on all 22 real blocks and scored it against the ground-truth events — the results are on the next slides, measured on your real Twitter data.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274320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246120" y="576072"/>
            <a:ext cx="1438351" cy="475488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291840" y="502920"/>
            <a:ext cx="1438351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real, unmodified pipeline on the real QSGNN Twitter benchmark — not a demo.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F3F3EF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3136392"/>
            <a:ext cx="502920" cy="82296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22219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68,841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2918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tweets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196596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F3F3EF"/>
          </a:solidFill>
          <a:ln/>
        </p:spPr>
      </p:sp>
      <p:sp>
        <p:nvSpPr>
          <p:cNvPr id="11" name="Shape 9"/>
          <p:cNvSpPr/>
          <p:nvPr/>
        </p:nvSpPr>
        <p:spPr>
          <a:xfrm>
            <a:off x="4709160" y="3136392"/>
            <a:ext cx="502920" cy="82296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63440" y="22219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503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2918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events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96596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F3F3EF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3136392"/>
            <a:ext cx="502920" cy="82296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5320" y="22219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2918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blocks (M0–M21)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420624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1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206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DistilBERT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(770-d)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4663440"/>
            <a:ext cx="237744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529584" y="420624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1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21024" y="4206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Homogeneous message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per block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998464" y="4663440"/>
            <a:ext cx="237744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236208" y="420624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1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4206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Louvain + KMeans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scored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05088" y="4663440"/>
            <a:ext cx="237744" cy="0"/>
          </a:xfrm>
          <a:prstGeom prst="line">
            <a:avLst/>
          </a:prstGeom>
          <a:noFill/>
          <a:ln w="19050">
            <a:solidFill>
              <a:srgbClr val="B9B9B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942832" y="420624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E9F4AE"/>
          </a:solidFill>
          <a:ln w="12700">
            <a:solidFill>
              <a:srgbClr val="E1E1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034272" y="42062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Gephi render +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graph, no node filtering — so every real tweet-to-tweet tie is visible. ~8 min end to end on CPU.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137160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011680" y="530352"/>
            <a:ext cx="2721254" cy="45720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057400" y="457200"/>
            <a:ext cx="2721254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097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over 22 real blocks, each scored against its ground-truth events.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31520" y="1600200"/>
          <a:ext cx="60350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040880" y="1737360"/>
            <a:ext cx="4297680" cy="1965960"/>
          </a:xfrm>
          <a:prstGeom prst="roundRect">
            <a:avLst>
              <a:gd name="adj" fmla="val 5581"/>
            </a:avLst>
          </a:prstGeom>
          <a:solidFill>
            <a:srgbClr val="E9F4A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242048" y="1878178"/>
            <a:ext cx="38953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NEARLY TIED ON AVERAGE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242048" y="2563063"/>
            <a:ext cx="3895344" cy="1019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and content land within 0.01 NMI of each other (0.644 vs 0.638). Mean graph modularity 0.66 — real, strong community structure.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040880" y="3840480"/>
            <a:ext cx="4297680" cy="2057400"/>
          </a:xfrm>
          <a:prstGeom prst="roundRect">
            <a:avLst>
              <a:gd name="adj" fmla="val 5333"/>
            </a:avLst>
          </a:prstGeom>
          <a:solidFill>
            <a:srgbClr val="F3F3E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242048" y="3981298"/>
            <a:ext cx="3895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THE WINNER FLIPS PER BLOCK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7242048" y="4704588"/>
            <a:ext cx="3895344" cy="107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wins block 5 (0.88 vs 0.77); content wins block 17 (0.52 vs 0.32). The two signals disagree block to block — so fusing them (what the GNN does) is exactly the missing piece.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457200"/>
            <a:ext cx="338328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SEEING THE 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703320" y="530352"/>
            <a:ext cx="3730752" cy="45720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749040" y="457200"/>
            <a:ext cx="3730752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GRAPH</a:t>
            </a:r>
            <a:endParaRPr lang="en-US" sz="3200" dirty="0"/>
          </a:p>
        </p:txBody>
      </p:sp>
      <p:pic>
        <p:nvPicPr>
          <p:cNvPr id="5" name="Image 0" descr="D:/Chrona/real_analysis_outputs/gephi/block5_ground_truth_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6126480" cy="4572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598932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block 5 in Gephi · ForceAtlas2 · nodes = tweets, sized by degree, colored by true event.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315200" y="1508760"/>
            <a:ext cx="256032" cy="256032"/>
          </a:xfrm>
          <a:prstGeom prst="ellipse">
            <a:avLst/>
          </a:prstGeom>
          <a:solidFill>
            <a:srgbClr val="3FD6D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26680" y="14630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is visible to the eye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18745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Same-event tweets pull together under ForceAtlas2; singleton-event tweets scatter to the margin.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315200" y="2971800"/>
            <a:ext cx="256032" cy="256032"/>
          </a:xfrm>
          <a:prstGeom prst="ellipse">
            <a:avLst/>
          </a:prstGeom>
          <a:solidFill>
            <a:srgbClr val="C9E93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72668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Louvain recovers it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333756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communities for 13 events — NMI 0.88, modularity 0.76 on this block.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0" y="4434840"/>
            <a:ext cx="256032" cy="256032"/>
          </a:xfrm>
          <a:prstGeom prst="ellipse">
            <a:avLst/>
          </a:prstGeom>
          <a:solidFill>
            <a:srgbClr val="3FD6D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726680" y="43891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Heavy-tailed, as expected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80060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tweets are low-degree (median 4); a few entity/user hubs tie the graph together (degree ~65).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37160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03120" y="411480"/>
            <a:ext cx="2377440" cy="77724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2194560" y="502920"/>
            <a:ext cx="2286000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TOOLING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554480"/>
            <a:ext cx="3456432" cy="4389120"/>
          </a:xfrm>
          <a:prstGeom prst="roundRect">
            <a:avLst>
              <a:gd name="adj" fmla="val 3175"/>
            </a:avLst>
          </a:prstGeom>
          <a:solidFill>
            <a:srgbClr val="F3F3EF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1783080"/>
            <a:ext cx="2999232" cy="502920"/>
          </a:xfrm>
          <a:prstGeom prst="roundRect">
            <a:avLst>
              <a:gd name="adj" fmla="val 18182"/>
            </a:avLst>
          </a:prstGeom>
          <a:solidFill>
            <a:srgbClr val="3FD6D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17830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NETWORKX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468880"/>
            <a:ext cx="290779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Louvain community detection (modularity-maximizing, no learning)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/ closeness / betweenness centrality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Modularity + NMI/AMI/ARI scored vs. ground-truth events, per block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4480560" y="1554480"/>
            <a:ext cx="3456432" cy="4389120"/>
          </a:xfrm>
          <a:prstGeom prst="roundRect">
            <a:avLst>
              <a:gd name="adj" fmla="val 3175"/>
            </a:avLst>
          </a:prstGeom>
          <a:solidFill>
            <a:srgbClr val="F3F3EF"/>
          </a:solidFill>
          <a:ln/>
        </p:spPr>
      </p:sp>
      <p:sp>
        <p:nvSpPr>
          <p:cNvPr id="10" name="Shape 8"/>
          <p:cNvSpPr/>
          <p:nvPr/>
        </p:nvSpPr>
        <p:spPr>
          <a:xfrm>
            <a:off x="4709160" y="1783080"/>
            <a:ext cx="2999232" cy="502920"/>
          </a:xfrm>
          <a:prstGeom prst="roundRect">
            <a:avLst>
              <a:gd name="adj" fmla="val 18182"/>
            </a:avLst>
          </a:prstGeom>
          <a:solidFill>
            <a:srgbClr val="C9E9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09160" y="17830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GEPHI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468880"/>
            <a:ext cx="290779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live via the AI Server HTTP API (:8081) — no manual clicking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ForceAtlas2 layout, size by degree, color by partition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 publication-quality PNGs of the real blocks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8138160" y="1554480"/>
            <a:ext cx="3456432" cy="4389120"/>
          </a:xfrm>
          <a:prstGeom prst="roundRect">
            <a:avLst>
              <a:gd name="adj" fmla="val 3175"/>
            </a:avLst>
          </a:prstGeom>
          <a:solidFill>
            <a:srgbClr val="F3F3EF"/>
          </a:solidFill>
          <a:ln/>
        </p:spPr>
      </p:sp>
      <p:sp>
        <p:nvSpPr>
          <p:cNvPr id="14" name="Shape 12"/>
          <p:cNvSpPr/>
          <p:nvPr/>
        </p:nvSpPr>
        <p:spPr>
          <a:xfrm>
            <a:off x="8366760" y="1783080"/>
            <a:ext cx="2999232" cy="502920"/>
          </a:xfrm>
          <a:prstGeom prst="roundRect">
            <a:avLst>
              <a:gd name="adj" fmla="val 18182"/>
            </a:avLst>
          </a:prstGeom>
          <a:solidFill>
            <a:srgbClr val="3FD6D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8308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SCRIPTS (RAN)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468880"/>
            <a:ext cx="290779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export_gephi.py — block → .gexf + Louvain scores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analyze_real.py — structure vs. content baselines + chart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gephi_render.py — drives Gephi end to end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03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build_dashboard_run.py — feeds the Streamlit dashboard real data</a:t>
            </a:r>
            <a:endParaRPr lang="en-US" sz="1030" dirty="0"/>
          </a:p>
        </p:txBody>
      </p:sp>
      <p:sp>
        <p:nvSpPr>
          <p:cNvPr id="17" name="Text 1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94360"/>
            <a:ext cx="1788566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657246" y="502920"/>
            <a:ext cx="4242816" cy="77724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2794406" y="594360"/>
            <a:ext cx="4242816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measured the two classical baselines the model is meant to beat, on the real benchmark. Structure (Louvain) and content (DistilBERT) land within 0.01 NMI of each other — yet the winner flips block to block. Neither signal is sufficient alone, and they are complementary exactly where it matters: on the same incoming messages. That gap — fusing structure and content per node — is precisely what DistilBERT-GNN's attention + contrastive objective is built to close.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931920"/>
            <a:ext cx="10515600" cy="1508760"/>
          </a:xfrm>
          <a:prstGeom prst="rect">
            <a:avLst/>
          </a:prstGeom>
          <a:ln w="19050">
            <a:solidFill>
              <a:srgbClr val="161616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097280" y="4114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9E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4526280"/>
            <a:ext cx="9784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REAL DATA, STRUCTURE AND CONTENT ARE A TIE THAT DISAGREES PER BLOCK — WHICH IS THE STRONGEST CASE FOR A MODEL THAT FUSES BOTH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DID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309360" y="5029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COMES NEXT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18872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24128" y="1329538"/>
            <a:ext cx="4535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the real pipeline end to end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764792"/>
            <a:ext cx="4535424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68,841 tweets → real DistilBERT embeddings → 22 real message graphs, ~8 min on CPU.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822960" y="2724912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24128" y="2865730"/>
            <a:ext cx="4535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two classical baselines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3300984"/>
            <a:ext cx="4535424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Louvain (structure) and KMeans/DistilBERT (content) scored vs. ground-truth events on every block.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822960" y="4261104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024128" y="4401922"/>
            <a:ext cx="4535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Visualized it three ways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4837176"/>
            <a:ext cx="4535424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Gephi (AI Server API), NetworkX figures, and the Streamlit dashboard — all on the real data.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309360" y="118872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0528" y="1329538"/>
            <a:ext cx="4535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GNN run in the pinned env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10528" y="1764792"/>
            <a:ext cx="4535424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DistilBERT-GNN (torch 2.2 / dgl 2.2) and drop its real NMI/AMI/ARI next to these baselines.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6309360" y="2724912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0528" y="2865730"/>
            <a:ext cx="4535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past test mode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3300984"/>
            <a:ext cx="4535424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the 100-msg/block cap to the full per-day blocks; cluster the Gephi exports with OpenOrd for 20k-node maps.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309360" y="4261104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10528" y="4401922"/>
            <a:ext cx="4535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up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10528" y="4837176"/>
            <a:ext cx="4535424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per-block complementarity result is the paper's hook: when does structure beat content, and why?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3520440" cy="502920"/>
          </a:xfrm>
          <a:prstGeom prst="rect">
            <a:avLst/>
          </a:prstGeom>
          <a:solidFill>
            <a:srgbClr val="3FD6D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68680" y="566928"/>
            <a:ext cx="352044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17320"/>
            <a:ext cx="50749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Abagissa, A. T., Saxena, S., &amp; Chandra, J. “DistilBERT-GNN: A Powerful Approach to Social Media Event Detection.” Research Square preprint, 2024.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Blondel, V. D., et al. “Fast Unfolding of Communities in Large Networks.” J. Stat. Mech., 2008.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Veličković, P., et al. “Graph Attention Networks.” ICLR, 2018.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Newman, M. E. J. “Modularity and Community Structure in Networks.” PNAS, 2006.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Ren, Y., et al. “Each Encoder Matters: Querying Social-Media Streams via QSGNN.” 2022.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417320"/>
            <a:ext cx="50749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Cao, Y., et al. “Knowledge-Preserving Incremental Social Event Detection via GNN (KPGNN).” 2021.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Peng, H., et al. “Fine-Grained Event Categorization with Heterogeneous GCN (PP-GCN).” 2019.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Liu, B., et al. “EventX: Open-Domain Event Extraction.” 2020.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Bastian, M., Heymann, S., &amp; Jacomy, M. “Gephi: An Open Source Software for Exploring and Manipulating Networks.” ICWSM, 2009.</a:t>
            </a:r>
            <a:endParaRPr lang="en-US" sz="11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Hagberg, A., Schult, D., &amp; Swart, P. “Exploring Network Structure with NetworkX.” SciPy, 2008.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0" y="28346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5715000" y="3429000"/>
            <a:ext cx="1828800" cy="502920"/>
          </a:xfrm>
          <a:prstGeom prst="rect">
            <a:avLst/>
          </a:prstGeom>
          <a:solidFill>
            <a:srgbClr val="C9E9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760720" y="2834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61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3977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measured on real data, and worth publishing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8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NA Network Extension">
  <a:themeElements>
    <a:clrScheme name="SNA Network Extension">
      <a:dk1>
        <a:srgbClr val="0D0D0D"/>
      </a:dk1>
      <a:lt1>
        <a:srgbClr val="FFFFFF"/>
      </a:lt1>
      <a:dk2>
        <a:srgbClr val="1A1A1A"/>
      </a:dk2>
      <a:lt2>
        <a:srgbClr val="EDEDE8"/>
      </a:lt2>
      <a:accent1>
        <a:srgbClr val="C9E93A"/>
      </a:accent1>
      <a:accent2>
        <a:srgbClr val="3FD6D1"/>
      </a:accent2>
      <a:accent3>
        <a:srgbClr val="B6C9C0"/>
      </a:accent3>
      <a:accent4>
        <a:srgbClr val="6B6B6B"/>
      </a:accent4>
      <a:accent5>
        <a:srgbClr val="8FE6E3"/>
      </a:accent5>
      <a:accent6>
        <a:srgbClr val="E9F4AE"/>
      </a:accent6>
      <a:hlink>
        <a:srgbClr val="3FD6D1"/>
      </a:hlink>
      <a:folHlink>
        <a:srgbClr val="8FE6E3"/>
      </a:folHlink>
    </a:clrScheme>
    <a:fontScheme name="SNA Network Extensi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2026-10-06T11:35:28Z</dcterms:created>
  <dcterms:modified xsi:type="dcterms:W3CDTF">2026-10-06T11:35:28Z</dcterms:modified>
</cp:coreProperties>
</file>