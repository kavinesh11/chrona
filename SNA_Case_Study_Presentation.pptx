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NMI / AMI / ARI by Model — Twitter Benchmark (Table 4, base paper)</a:t>
            </a:r>
          </a:p>
        </c:rich>
      </c:tx>
      <c:layout/>
      <c:overlay val="0"/>
    </c:title>
    <c:autoTitleDeleted val="0"/>
    <c:plotArea>
      <c:layout/>
      <c:barChart>
        <c:barDir val="col"/>
        <c:grouping val="clustered"/>
        <c:varyColors val="0"/>
        <c:ser>
          <c:idx val="0"/>
          <c:order val="0"/>
          <c:tx>
            <c:strRef>
              <c:f>Sheet1!$B$1</c:f>
              <c:strCache>
                <c:ptCount val="1"/>
                <c:pt idx="0">
                  <c:v>NMI</c:v>
                </c:pt>
              </c:strCache>
            </c:strRef>
          </c:tx>
          <c:spPr>
            <a:solidFill>
              <a:srgbClr val="1F6F8B"/>
            </a:solidFill>
            <a:effectLst/>
          </c:spPr>
          <c:invertIfNegative val="0"/>
          <c:dLbls>
            <c:numFmt formatCode="#,##0" sourceLinked="0"/>
            <c:txPr>
              <a:bodyPr/>
              <a:lstStyle/>
              <a:p>
                <a:pPr>
                  <a:defRPr b="0" i="0" strike="noStrike" sz="1200" u="none">
                    <a:solidFill>
                      <a:srgbClr val="4A5568"/>
                    </a:solidFill>
                    <a:latin typeface="Arial"/>
                  </a:defRPr>
                </a:pPr>
              </a:p>
            </c:txPr>
            <c:showLegendKey val="0"/>
            <c:showVal val="0"/>
            <c:showCatName val="0"/>
            <c:showSerName val="0"/>
            <c:showPercent val="0"/>
            <c:showBubbleSize val="0"/>
            <c:showLeaderLines val="0"/>
          </c:dLbls>
          <c:cat>
            <c:multiLvlStrRef>
              <c:f>Sheet1!$A$2:$A$11</c:f>
              <c:multiLvlStrCache>
                <c:ptCount val="10"/>
                <c:lvl>
                  <c:pt idx="0">
                    <c:v>Word2Vec</c:v>
                  </c:pt>
                  <c:pt idx="1">
                    <c:v>LDA</c:v>
                  </c:pt>
                  <c:pt idx="2">
                    <c:v>WMD</c:v>
                  </c:pt>
                  <c:pt idx="3">
                    <c:v>BERT</c:v>
                  </c:pt>
                  <c:pt idx="4">
                    <c:v>BiLSTM</c:v>
                  </c:pt>
                  <c:pt idx="5">
                    <c:v>PP-GCN</c:v>
                  </c:pt>
                  <c:pt idx="6">
                    <c:v>EventX</c:v>
                  </c:pt>
                  <c:pt idx="7">
                    <c:v>KPGNN</c:v>
                  </c:pt>
                  <c:pt idx="8">
                    <c:v>QSGNN</c:v>
                  </c:pt>
                  <c:pt idx="9">
                    <c:v>DistilBERT-GNN</c:v>
                  </c:pt>
                </c:lvl>
              </c:multiLvlStrCache>
            </c:multiLvlStrRef>
          </c:cat>
          <c:val>
            <c:numRef>
              <c:f>Sheet1!$B$2:$B$11</c:f>
              <c:numCache>
                <c:formatCode>General</c:formatCode>
                <c:ptCount val="10"/>
                <c:pt idx="0">
                  <c:v>0.44</c:v>
                </c:pt>
                <c:pt idx="1">
                  <c:v>0.29</c:v>
                </c:pt>
                <c:pt idx="2">
                  <c:v>0.65</c:v>
                </c:pt>
                <c:pt idx="3">
                  <c:v>0.64</c:v>
                </c:pt>
                <c:pt idx="4">
                  <c:v>0.63</c:v>
                </c:pt>
                <c:pt idx="5">
                  <c:v>0.68</c:v>
                </c:pt>
                <c:pt idx="6">
                  <c:v>0.72</c:v>
                </c:pt>
                <c:pt idx="7">
                  <c:v>0.7</c:v>
                </c:pt>
                <c:pt idx="8">
                  <c:v>0.7</c:v>
                </c:pt>
                <c:pt idx="9">
                  <c:v>0.72</c:v>
                </c:pt>
              </c:numCache>
            </c:numRef>
          </c:val>
        </c:ser>
        <c:ser>
          <c:idx val="1"/>
          <c:order val="1"/>
          <c:tx>
            <c:strRef>
              <c:f>Sheet1!$C$1</c:f>
              <c:strCache>
                <c:ptCount val="1"/>
                <c:pt idx="0">
                  <c:v>AMI</c:v>
                </c:pt>
              </c:strCache>
            </c:strRef>
          </c:tx>
          <c:spPr>
            <a:solidFill>
              <a:srgbClr val="FF6B4A"/>
            </a:solidFill>
            <a:effectLst/>
          </c:spPr>
          <c:invertIfNegative val="0"/>
          <c:dLbls>
            <c:numFmt formatCode="#,##0" sourceLinked="0"/>
            <c:txPr>
              <a:bodyPr/>
              <a:lstStyle/>
              <a:p>
                <a:pPr>
                  <a:defRPr b="0" i="0" strike="noStrike" sz="1200" u="none">
                    <a:solidFill>
                      <a:srgbClr val="4A5568"/>
                    </a:solidFill>
                    <a:latin typeface="Arial"/>
                  </a:defRPr>
                </a:pPr>
              </a:p>
            </c:txPr>
            <c:showLegendKey val="0"/>
            <c:showVal val="0"/>
            <c:showCatName val="0"/>
            <c:showSerName val="0"/>
            <c:showPercent val="0"/>
            <c:showBubbleSize val="0"/>
            <c:showLeaderLines val="0"/>
          </c:dLbls>
          <c:cat>
            <c:multiLvlStrRef>
              <c:f>Sheet1!$A$2:$A$11</c:f>
              <c:multiLvlStrCache>
                <c:ptCount val="10"/>
                <c:lvl>
                  <c:pt idx="0">
                    <c:v>Word2Vec</c:v>
                  </c:pt>
                  <c:pt idx="1">
                    <c:v>LDA</c:v>
                  </c:pt>
                  <c:pt idx="2">
                    <c:v>WMD</c:v>
                  </c:pt>
                  <c:pt idx="3">
                    <c:v>BERT</c:v>
                  </c:pt>
                  <c:pt idx="4">
                    <c:v>BiLSTM</c:v>
                  </c:pt>
                  <c:pt idx="5">
                    <c:v>PP-GCN</c:v>
                  </c:pt>
                  <c:pt idx="6">
                    <c:v>EventX</c:v>
                  </c:pt>
                  <c:pt idx="7">
                    <c:v>KPGNN</c:v>
                  </c:pt>
                  <c:pt idx="8">
                    <c:v>QSGNN</c:v>
                  </c:pt>
                  <c:pt idx="9">
                    <c:v>DistilBERT-GNN</c:v>
                  </c:pt>
                </c:lvl>
              </c:multiLvlStrCache>
            </c:multiLvlStrRef>
          </c:cat>
          <c:val>
            <c:numRef>
              <c:f>Sheet1!$C$2:$C$11</c:f>
              <c:numCache>
                <c:formatCode>General</c:formatCode>
                <c:ptCount val="10"/>
                <c:pt idx="0">
                  <c:v>0.13</c:v>
                </c:pt>
                <c:pt idx="1">
                  <c:v>0.04</c:v>
                </c:pt>
                <c:pt idx="2">
                  <c:v>0.5</c:v>
                </c:pt>
                <c:pt idx="3">
                  <c:v>0.44</c:v>
                </c:pt>
                <c:pt idx="4">
                  <c:v>0.41</c:v>
                </c:pt>
                <c:pt idx="5">
                  <c:v>0.5</c:v>
                </c:pt>
                <c:pt idx="6">
                  <c:v>0.19</c:v>
                </c:pt>
                <c:pt idx="7">
                  <c:v>0.52</c:v>
                </c:pt>
                <c:pt idx="8">
                  <c:v>0.51</c:v>
                </c:pt>
                <c:pt idx="9">
                  <c:v>0.53</c:v>
                </c:pt>
              </c:numCache>
            </c:numRef>
          </c:val>
        </c:ser>
        <c:ser>
          <c:idx val="2"/>
          <c:order val="2"/>
          <c:tx>
            <c:strRef>
              <c:f>Sheet1!$D$1</c:f>
              <c:strCache>
                <c:ptCount val="1"/>
                <c:pt idx="0">
                  <c:v>ARI</c:v>
                </c:pt>
              </c:strCache>
            </c:strRef>
          </c:tx>
          <c:spPr>
            <a:solidFill>
              <a:srgbClr val="14213D"/>
            </a:solidFill>
            <a:effectLst/>
          </c:spPr>
          <c:invertIfNegative val="0"/>
          <c:dLbls>
            <c:numFmt formatCode="#,##0" sourceLinked="0"/>
            <c:txPr>
              <a:bodyPr/>
              <a:lstStyle/>
              <a:p>
                <a:pPr>
                  <a:defRPr b="0" i="0" strike="noStrike" sz="1200" u="none">
                    <a:solidFill>
                      <a:srgbClr val="4A5568"/>
                    </a:solidFill>
                    <a:latin typeface="Arial"/>
                  </a:defRPr>
                </a:pPr>
              </a:p>
            </c:txPr>
            <c:showLegendKey val="0"/>
            <c:showVal val="0"/>
            <c:showCatName val="0"/>
            <c:showSerName val="0"/>
            <c:showPercent val="0"/>
            <c:showBubbleSize val="0"/>
            <c:showLeaderLines val="0"/>
          </c:dLbls>
          <c:cat>
            <c:multiLvlStrRef>
              <c:f>Sheet1!$A$2:$A$11</c:f>
              <c:multiLvlStrCache>
                <c:ptCount val="10"/>
                <c:lvl>
                  <c:pt idx="0">
                    <c:v>Word2Vec</c:v>
                  </c:pt>
                  <c:pt idx="1">
                    <c:v>LDA</c:v>
                  </c:pt>
                  <c:pt idx="2">
                    <c:v>WMD</c:v>
                  </c:pt>
                  <c:pt idx="3">
                    <c:v>BERT</c:v>
                  </c:pt>
                  <c:pt idx="4">
                    <c:v>BiLSTM</c:v>
                  </c:pt>
                  <c:pt idx="5">
                    <c:v>PP-GCN</c:v>
                  </c:pt>
                  <c:pt idx="6">
                    <c:v>EventX</c:v>
                  </c:pt>
                  <c:pt idx="7">
                    <c:v>KPGNN</c:v>
                  </c:pt>
                  <c:pt idx="8">
                    <c:v>QSGNN</c:v>
                  </c:pt>
                  <c:pt idx="9">
                    <c:v>DistilBERT-GNN</c:v>
                  </c:pt>
                </c:lvl>
              </c:multiLvlStrCache>
            </c:multiLvlStrRef>
          </c:cat>
          <c:val>
            <c:numRef>
              <c:f>Sheet1!$D$2:$D$11</c:f>
              <c:numCache>
                <c:formatCode>General</c:formatCode>
                <c:ptCount val="10"/>
                <c:pt idx="0">
                  <c:v>0.02</c:v>
                </c:pt>
                <c:pt idx="1">
                  <c:v>0.01</c:v>
                </c:pt>
                <c:pt idx="2">
                  <c:v>0.06</c:v>
                </c:pt>
                <c:pt idx="3">
                  <c:v>0.07</c:v>
                </c:pt>
                <c:pt idx="4">
                  <c:v>0.17</c:v>
                </c:pt>
                <c:pt idx="5">
                  <c:v>0.2</c:v>
                </c:pt>
                <c:pt idx="6">
                  <c:v>0.05</c:v>
                </c:pt>
                <c:pt idx="7">
                  <c:v>0.22</c:v>
                </c:pt>
                <c:pt idx="8">
                  <c:v>0.2</c:v>
                </c:pt>
                <c:pt idx="9">
                  <c:v>0.24</c:v>
                </c:pt>
              </c:numCache>
            </c:numRef>
          </c:val>
        </c:ser>
        <c:dLbls>
          <c:numFmt formatCode="#,##0" sourceLinked="0"/>
          <c:txPr>
            <a:bodyPr/>
            <a:lstStyle/>
            <a:p>
              <a:pPr>
                <a:defRPr b="0" i="0" strike="noStrike" sz="1200" u="none">
                  <a:solidFill>
                    <a:srgbClr val="4A5568"/>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00000"/>
          <a:lstStyle/>
          <a:p>
            <a:pPr>
              <a:defRPr sz="900" b="0" i="0" u="none" strike="noStrike">
                <a:solidFill>
                  <a:srgbClr val="4A5568"/>
                </a:solidFill>
                <a:latin typeface="Calibri"/>
              </a:defRPr>
            </a:pPr>
            <a:endParaRPr lang="en-US"/>
          </a:p>
        </c:txPr>
        <c:crossAx val="2094734552"/>
        <c:crosses val="autoZero"/>
        <c:auto val="1"/>
        <c:lblAlgn val="ctr"/>
        <c:noMultiLvlLbl val="1"/>
      </c:catAx>
      <c:valAx>
        <c:axId val="2094734552"/>
        <c:scaling>
          <c:orientation val="minMax"/>
          <c:max val="0.8"/>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framing up front: this is a social-network-analysis case study, not just an NLP demo. State the one-sentence hook: we model tweets, users and entities as a graph and detect events as communities in that graph. Fill in your name/course/date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organized to mirror the case-study rubric exactly — call that out so the grader can follow along section by section. Move quickly through this slide; it is a map, not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research question slowly — it is the thesis of the whole deck. Emphasize the word "incrementally": the network keeps growing, so this cannot be a one-time classification task. Use the three challenges to justify why a text-only model (Word2Vec, BERT) is not enough on its own — that sets up the Analysis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honesty note before anyone can ask "did you collect this yourselves?" — say plainly that this reuses an established benchmark, and explain why that is the correct academic choice (comparability to prior baselines). Then walk the diagram left to right: raw block -&gt; heterogeneous graph -&gt; homogeneous message graph. This is the "network" the rest of the talk analyzes.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"methodology" slide for the rubric — name each technique explicitly as an SNA technique (centrality, community detection, etc.), not just a deep-learning component. If asked "why is this SNA and not just deep learning," point here: every box is a classical network-analysis concept, just implemented with learned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likely grader question directly: why two filtering strategies? Frame it as an experiment in itself — content-based vs. purely structural importance — and say that both are implemented and swappable via a command-line flag, which shows this was actually built, not just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(a)-(f) once, briefly. This is the single diagram to point back to if anyone loses the thread later in the talk — "recall stage (b), the node filtering we just discussed"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clearly that these numbers are as reported in the base paper’s Table 4, not a run you personally executed — unless you have run main.py yourself, in which case swap in your own numbers here and say so explicitly. The point to land: the rightmost cluster of graph-based bars beats the left cluster of text-only bars on AMI/ARI — that gap is the whole argument for treating this as a network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"counter-intuitive" result in the case study, so slow down here: more memory of the network’s past is not free, and it actually hurts. That is a good line to quote verbatim if asked "what surprised you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run tools/visualize_run.py before presenting and replace the right-hand placeholder list with the three actual generated PNGs (swap this slide’s content for real embedded images). Presenting the placeholder list as-is is fine as a fallback, but real figures score much better on the "Visualization &amp; Graph Representation" rubric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the limitations column — volunteering them yourself, before a grader asks, reads as stronger critical thinking than being caught without an answer. Keep both columns balanced in speaking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takeaway card, not the numbers — the numbers are supporting evidence, the boxed sentence on the right is the argument you want the audience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your repository link before presenting. Be ready for the two most likely questions: (1) why reuse a benchmark instead of collecting new data, and (2) why keep-latest beats keep-all for network maintenance — both are covered earlier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flipV="1">
            <a:off x="8778240" y="822960"/>
            <a:ext cx="914400" cy="365760"/>
          </a:xfrm>
          <a:prstGeom prst="line">
            <a:avLst/>
          </a:prstGeom>
          <a:noFill/>
          <a:ln w="15875">
            <a:solidFill>
              <a:srgbClr val="1F6F8B">
                <a:alpha val="75000"/>
              </a:srgbClr>
            </a:solidFill>
            <a:prstDash val="solid"/>
          </a:ln>
        </p:spPr>
      </p:sp>
      <p:sp>
        <p:nvSpPr>
          <p:cNvPr id="3" name="Shape 1"/>
          <p:cNvSpPr/>
          <p:nvPr/>
        </p:nvSpPr>
        <p:spPr>
          <a:xfrm>
            <a:off x="9692640" y="822960"/>
            <a:ext cx="914400" cy="640080"/>
          </a:xfrm>
          <a:prstGeom prst="line">
            <a:avLst/>
          </a:prstGeom>
          <a:noFill/>
          <a:ln w="15875">
            <a:solidFill>
              <a:srgbClr val="1F6F8B">
                <a:alpha val="75000"/>
              </a:srgbClr>
            </a:solidFill>
            <a:prstDash val="solid"/>
          </a:ln>
        </p:spPr>
      </p:sp>
      <p:sp>
        <p:nvSpPr>
          <p:cNvPr id="4" name="Shape 2"/>
          <p:cNvSpPr/>
          <p:nvPr/>
        </p:nvSpPr>
        <p:spPr>
          <a:xfrm>
            <a:off x="8778240" y="1188720"/>
            <a:ext cx="640080" cy="1005840"/>
          </a:xfrm>
          <a:prstGeom prst="line">
            <a:avLst/>
          </a:prstGeom>
          <a:noFill/>
          <a:ln w="15875">
            <a:solidFill>
              <a:srgbClr val="1F6F8B">
                <a:alpha val="75000"/>
              </a:srgbClr>
            </a:solidFill>
            <a:prstDash val="solid"/>
          </a:ln>
        </p:spPr>
      </p:sp>
      <p:sp>
        <p:nvSpPr>
          <p:cNvPr id="5" name="Shape 3"/>
          <p:cNvSpPr/>
          <p:nvPr/>
        </p:nvSpPr>
        <p:spPr>
          <a:xfrm flipH="1">
            <a:off x="8412480" y="2194560"/>
            <a:ext cx="1005840" cy="182880"/>
          </a:xfrm>
          <a:prstGeom prst="line">
            <a:avLst/>
          </a:prstGeom>
          <a:noFill/>
          <a:ln w="15875">
            <a:solidFill>
              <a:srgbClr val="1F6F8B">
                <a:alpha val="75000"/>
              </a:srgbClr>
            </a:solidFill>
            <a:prstDash val="solid"/>
          </a:ln>
        </p:spPr>
      </p:sp>
      <p:sp>
        <p:nvSpPr>
          <p:cNvPr id="6" name="Shape 4"/>
          <p:cNvSpPr/>
          <p:nvPr/>
        </p:nvSpPr>
        <p:spPr>
          <a:xfrm flipH="1">
            <a:off x="9418320" y="822960"/>
            <a:ext cx="274320" cy="1371600"/>
          </a:xfrm>
          <a:prstGeom prst="line">
            <a:avLst/>
          </a:prstGeom>
          <a:noFill/>
          <a:ln w="15875">
            <a:solidFill>
              <a:srgbClr val="1F6F8B">
                <a:alpha val="75000"/>
              </a:srgbClr>
            </a:solidFill>
            <a:prstDash val="solid"/>
          </a:ln>
        </p:spPr>
      </p:sp>
      <p:sp>
        <p:nvSpPr>
          <p:cNvPr id="7" name="Shape 5"/>
          <p:cNvSpPr/>
          <p:nvPr/>
        </p:nvSpPr>
        <p:spPr>
          <a:xfrm>
            <a:off x="10607040" y="1463040"/>
            <a:ext cx="548640" cy="1097280"/>
          </a:xfrm>
          <a:prstGeom prst="line">
            <a:avLst/>
          </a:prstGeom>
          <a:noFill/>
          <a:ln w="15875">
            <a:solidFill>
              <a:srgbClr val="1F6F8B">
                <a:alpha val="75000"/>
              </a:srgbClr>
            </a:solidFill>
            <a:prstDash val="solid"/>
          </a:ln>
        </p:spPr>
      </p:sp>
      <p:sp>
        <p:nvSpPr>
          <p:cNvPr id="8" name="Shape 6"/>
          <p:cNvSpPr/>
          <p:nvPr/>
        </p:nvSpPr>
        <p:spPr>
          <a:xfrm>
            <a:off x="9418320" y="2194560"/>
            <a:ext cx="640080" cy="1005840"/>
          </a:xfrm>
          <a:prstGeom prst="line">
            <a:avLst/>
          </a:prstGeom>
          <a:noFill/>
          <a:ln w="15875">
            <a:solidFill>
              <a:srgbClr val="1F6F8B">
                <a:alpha val="75000"/>
              </a:srgbClr>
            </a:solidFill>
            <a:prstDash val="solid"/>
          </a:ln>
        </p:spPr>
      </p:sp>
      <p:sp>
        <p:nvSpPr>
          <p:cNvPr id="9" name="Shape 7"/>
          <p:cNvSpPr/>
          <p:nvPr/>
        </p:nvSpPr>
        <p:spPr>
          <a:xfrm flipH="1">
            <a:off x="10058400" y="2560320"/>
            <a:ext cx="1097280" cy="640080"/>
          </a:xfrm>
          <a:prstGeom prst="line">
            <a:avLst/>
          </a:prstGeom>
          <a:noFill/>
          <a:ln w="15875">
            <a:solidFill>
              <a:srgbClr val="1F6F8B">
                <a:alpha val="75000"/>
              </a:srgbClr>
            </a:solidFill>
            <a:prstDash val="solid"/>
          </a:ln>
        </p:spPr>
      </p:sp>
      <p:sp>
        <p:nvSpPr>
          <p:cNvPr id="10" name="Shape 8"/>
          <p:cNvSpPr/>
          <p:nvPr/>
        </p:nvSpPr>
        <p:spPr>
          <a:xfrm flipH="1">
            <a:off x="8869680" y="3200400"/>
            <a:ext cx="1188720" cy="274320"/>
          </a:xfrm>
          <a:prstGeom prst="line">
            <a:avLst/>
          </a:prstGeom>
          <a:noFill/>
          <a:ln w="15875">
            <a:solidFill>
              <a:srgbClr val="1F6F8B">
                <a:alpha val="75000"/>
              </a:srgbClr>
            </a:solidFill>
            <a:prstDash val="solid"/>
          </a:ln>
        </p:spPr>
      </p:sp>
      <p:sp>
        <p:nvSpPr>
          <p:cNvPr id="11" name="Shape 9"/>
          <p:cNvSpPr/>
          <p:nvPr/>
        </p:nvSpPr>
        <p:spPr>
          <a:xfrm flipH="1">
            <a:off x="9875520" y="3200400"/>
            <a:ext cx="182880" cy="1005840"/>
          </a:xfrm>
          <a:prstGeom prst="line">
            <a:avLst/>
          </a:prstGeom>
          <a:noFill/>
          <a:ln w="15875">
            <a:solidFill>
              <a:srgbClr val="1F6F8B">
                <a:alpha val="75000"/>
              </a:srgbClr>
            </a:solidFill>
            <a:prstDash val="solid"/>
          </a:ln>
        </p:spPr>
      </p:sp>
      <p:sp>
        <p:nvSpPr>
          <p:cNvPr id="12" name="Shape 10"/>
          <p:cNvSpPr/>
          <p:nvPr/>
        </p:nvSpPr>
        <p:spPr>
          <a:xfrm>
            <a:off x="8412480" y="2377440"/>
            <a:ext cx="457200" cy="1097280"/>
          </a:xfrm>
          <a:prstGeom prst="line">
            <a:avLst/>
          </a:prstGeom>
          <a:noFill/>
          <a:ln w="15875">
            <a:solidFill>
              <a:srgbClr val="1F6F8B">
                <a:alpha val="75000"/>
              </a:srgbClr>
            </a:solidFill>
            <a:prstDash val="solid"/>
          </a:ln>
        </p:spPr>
      </p:sp>
      <p:sp>
        <p:nvSpPr>
          <p:cNvPr id="13" name="Shape 11"/>
          <p:cNvSpPr/>
          <p:nvPr/>
        </p:nvSpPr>
        <p:spPr>
          <a:xfrm>
            <a:off x="8695944" y="1106424"/>
            <a:ext cx="164592" cy="164592"/>
          </a:xfrm>
          <a:prstGeom prst="ellipse">
            <a:avLst/>
          </a:prstGeom>
          <a:solidFill>
            <a:srgbClr val="CADCFC"/>
          </a:solidFill>
          <a:ln/>
        </p:spPr>
      </p:sp>
      <p:sp>
        <p:nvSpPr>
          <p:cNvPr id="14" name="Shape 12"/>
          <p:cNvSpPr/>
          <p:nvPr/>
        </p:nvSpPr>
        <p:spPr>
          <a:xfrm>
            <a:off x="9610344" y="740664"/>
            <a:ext cx="164592" cy="164592"/>
          </a:xfrm>
          <a:prstGeom prst="ellipse">
            <a:avLst/>
          </a:prstGeom>
          <a:solidFill>
            <a:srgbClr val="CADCFC"/>
          </a:solidFill>
          <a:ln/>
        </p:spPr>
      </p:sp>
      <p:sp>
        <p:nvSpPr>
          <p:cNvPr id="15" name="Shape 13"/>
          <p:cNvSpPr/>
          <p:nvPr/>
        </p:nvSpPr>
        <p:spPr>
          <a:xfrm>
            <a:off x="10524744" y="1380744"/>
            <a:ext cx="164592" cy="164592"/>
          </a:xfrm>
          <a:prstGeom prst="ellipse">
            <a:avLst/>
          </a:prstGeom>
          <a:solidFill>
            <a:srgbClr val="CADCFC"/>
          </a:solidFill>
          <a:ln/>
        </p:spPr>
      </p:sp>
      <p:sp>
        <p:nvSpPr>
          <p:cNvPr id="16" name="Shape 14"/>
          <p:cNvSpPr/>
          <p:nvPr/>
        </p:nvSpPr>
        <p:spPr>
          <a:xfrm>
            <a:off x="9336024" y="2112264"/>
            <a:ext cx="164592" cy="164592"/>
          </a:xfrm>
          <a:prstGeom prst="ellipse">
            <a:avLst/>
          </a:prstGeom>
          <a:solidFill>
            <a:srgbClr val="CADCFC"/>
          </a:solidFill>
          <a:ln/>
        </p:spPr>
      </p:sp>
      <p:sp>
        <p:nvSpPr>
          <p:cNvPr id="17" name="Shape 15"/>
          <p:cNvSpPr/>
          <p:nvPr/>
        </p:nvSpPr>
        <p:spPr>
          <a:xfrm>
            <a:off x="8330184" y="2295144"/>
            <a:ext cx="164592" cy="164592"/>
          </a:xfrm>
          <a:prstGeom prst="ellipse">
            <a:avLst/>
          </a:prstGeom>
          <a:solidFill>
            <a:srgbClr val="CADCFC"/>
          </a:solidFill>
          <a:ln/>
        </p:spPr>
      </p:sp>
      <p:sp>
        <p:nvSpPr>
          <p:cNvPr id="18" name="Shape 16"/>
          <p:cNvSpPr/>
          <p:nvPr/>
        </p:nvSpPr>
        <p:spPr>
          <a:xfrm>
            <a:off x="11073384" y="2478024"/>
            <a:ext cx="164592" cy="164592"/>
          </a:xfrm>
          <a:prstGeom prst="ellipse">
            <a:avLst/>
          </a:prstGeom>
          <a:solidFill>
            <a:srgbClr val="CADCFC"/>
          </a:solidFill>
          <a:ln/>
        </p:spPr>
      </p:sp>
      <p:sp>
        <p:nvSpPr>
          <p:cNvPr id="19" name="Shape 17"/>
          <p:cNvSpPr/>
          <p:nvPr/>
        </p:nvSpPr>
        <p:spPr>
          <a:xfrm>
            <a:off x="9976104" y="3118104"/>
            <a:ext cx="164592" cy="164592"/>
          </a:xfrm>
          <a:prstGeom prst="ellipse">
            <a:avLst/>
          </a:prstGeom>
          <a:solidFill>
            <a:srgbClr val="FF6B4A"/>
          </a:solidFill>
          <a:ln/>
        </p:spPr>
      </p:sp>
      <p:sp>
        <p:nvSpPr>
          <p:cNvPr id="20" name="Shape 18"/>
          <p:cNvSpPr/>
          <p:nvPr/>
        </p:nvSpPr>
        <p:spPr>
          <a:xfrm>
            <a:off x="8787384" y="3392424"/>
            <a:ext cx="164592" cy="164592"/>
          </a:xfrm>
          <a:prstGeom prst="ellipse">
            <a:avLst/>
          </a:prstGeom>
          <a:solidFill>
            <a:srgbClr val="CADCFC"/>
          </a:solidFill>
          <a:ln/>
        </p:spPr>
      </p:sp>
      <p:sp>
        <p:nvSpPr>
          <p:cNvPr id="21" name="Shape 19"/>
          <p:cNvSpPr/>
          <p:nvPr/>
        </p:nvSpPr>
        <p:spPr>
          <a:xfrm>
            <a:off x="9793224" y="4123944"/>
            <a:ext cx="164592" cy="164592"/>
          </a:xfrm>
          <a:prstGeom prst="ellipse">
            <a:avLst/>
          </a:prstGeom>
          <a:solidFill>
            <a:srgbClr val="CADCFC"/>
          </a:solidFill>
          <a:ln/>
        </p:spPr>
      </p:sp>
      <p:sp>
        <p:nvSpPr>
          <p:cNvPr id="22" name="Text 20"/>
          <p:cNvSpPr/>
          <p:nvPr/>
        </p:nvSpPr>
        <p:spPr>
          <a:xfrm>
            <a:off x="731520" y="1965960"/>
            <a:ext cx="8229600" cy="365760"/>
          </a:xfrm>
          <a:prstGeom prst="rect">
            <a:avLst/>
          </a:prstGeom>
          <a:noFill/>
          <a:ln/>
        </p:spPr>
        <p:txBody>
          <a:bodyPr wrap="square" rtlCol="0" anchor="ctr"/>
          <a:lstStyle/>
          <a:p>
            <a:pPr indent="0" marL="0">
              <a:buNone/>
            </a:pPr>
            <a:r>
              <a:rPr lang="en-US" sz="1400" b="1" spc="300" kern="0" dirty="0">
                <a:solidFill>
                  <a:srgbClr val="FF6B4A"/>
                </a:solidFill>
                <a:latin typeface="Calibri" pitchFamily="34" charset="0"/>
                <a:ea typeface="Calibri" pitchFamily="34" charset="-122"/>
                <a:cs typeface="Calibri" pitchFamily="34" charset="-120"/>
              </a:rPr>
              <a:t>SOCIAL NETWORK ANALYSIS — CASE STUDY</a:t>
            </a:r>
            <a:endParaRPr lang="en-US" sz="1400" dirty="0"/>
          </a:p>
        </p:txBody>
      </p:sp>
      <p:sp>
        <p:nvSpPr>
          <p:cNvPr id="23" name="Text 21"/>
          <p:cNvSpPr/>
          <p:nvPr/>
        </p:nvSpPr>
        <p:spPr>
          <a:xfrm>
            <a:off x="685800" y="2331720"/>
            <a:ext cx="96012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DistilBERT-GNN</a:t>
            </a:r>
            <a:endParaRPr lang="en-US" sz="5400" dirty="0"/>
          </a:p>
        </p:txBody>
      </p:sp>
      <p:sp>
        <p:nvSpPr>
          <p:cNvPr id="24" name="Text 22"/>
          <p:cNvSpPr/>
          <p:nvPr/>
        </p:nvSpPr>
        <p:spPr>
          <a:xfrm>
            <a:off x="731520" y="3337560"/>
            <a:ext cx="868680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Detecting and Tracking Social Media Events as an Evolving Network</a:t>
            </a:r>
            <a:endParaRPr lang="en-US" sz="1800" dirty="0"/>
          </a:p>
        </p:txBody>
      </p:sp>
      <p:sp>
        <p:nvSpPr>
          <p:cNvPr id="25" name="Text 23"/>
          <p:cNvSpPr/>
          <p:nvPr/>
        </p:nvSpPr>
        <p:spPr>
          <a:xfrm>
            <a:off x="731520" y="5989320"/>
            <a:ext cx="73152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[Your Name]  ·  [Course / Instructor]  ·  [Date]</a:t>
            </a:r>
            <a:endParaRPr lang="en-US" sz="1300" dirty="0"/>
          </a:p>
        </p:txBody>
      </p:sp>
      <p:sp>
        <p:nvSpPr>
          <p:cNvPr id="26" name="Text 24"/>
          <p:cNvSpPr/>
          <p:nvPr/>
        </p:nvSpPr>
        <p:spPr>
          <a:xfrm>
            <a:off x="731520" y="6355080"/>
            <a:ext cx="8686800" cy="457200"/>
          </a:xfrm>
          <a:prstGeom prst="rect">
            <a:avLst/>
          </a:prstGeom>
          <a:noFill/>
          <a:ln/>
        </p:spPr>
        <p:txBody>
          <a:bodyPr wrap="square" rtlCol="0" anchor="ctr"/>
          <a:lstStyle/>
          <a:p>
            <a:pPr indent="0" marL="0">
              <a:buNone/>
            </a:pPr>
            <a:r>
              <a:rPr lang="en-US" sz="1000" dirty="0">
                <a:solidFill>
                  <a:srgbClr val="8A94A6"/>
                </a:solidFill>
                <a:latin typeface="Calibri" pitchFamily="34" charset="0"/>
                <a:ea typeface="Calibri" pitchFamily="34" charset="-122"/>
                <a:cs typeface="Calibri" pitchFamily="34" charset="-120"/>
              </a:rPr>
              <a:t>Reimplementation of: Abagissa, Saxena &amp; Chandra — "DistilBERT-GNN: A Powerful</a:t>
            </a:r>
            <a:endParaRPr lang="en-US" sz="1000" dirty="0"/>
          </a:p>
          <a:p>
            <a:pPr indent="0" marL="0">
              <a:buNone/>
            </a:pPr>
            <a:r>
              <a:rPr lang="en-US" sz="1000" dirty="0">
                <a:solidFill>
                  <a:srgbClr val="8A94A6"/>
                </a:solidFill>
                <a:latin typeface="Calibri" pitchFamily="34" charset="0"/>
                <a:ea typeface="Calibri" pitchFamily="34" charset="-122"/>
                <a:cs typeface="Calibri" pitchFamily="34" charset="-120"/>
              </a:rPr>
              <a:t>Approach to Social Media Event Detection" (IIT Patna, 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We’ll Cover</a:t>
            </a:r>
            <a:endParaRPr lang="en-US" sz="3000" dirty="0"/>
          </a:p>
        </p:txBody>
      </p:sp>
      <p:sp>
        <p:nvSpPr>
          <p:cNvPr id="4" name="Text 2"/>
          <p:cNvSpPr/>
          <p:nvPr/>
        </p:nvSpPr>
        <p:spPr>
          <a:xfrm>
            <a:off x="548640" y="1298448"/>
            <a:ext cx="9144000" cy="320040"/>
          </a:xfrm>
          <a:prstGeom prst="rect">
            <a:avLst/>
          </a:prstGeom>
          <a:noFill/>
          <a:ln/>
        </p:spPr>
        <p:txBody>
          <a:bodyPr wrap="square"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This deck follows the case-study rubric section by section.</a:t>
            </a:r>
            <a:endParaRPr lang="en-US" sz="1300" dirty="0"/>
          </a:p>
        </p:txBody>
      </p:sp>
      <p:sp>
        <p:nvSpPr>
          <p:cNvPr id="5" name="Shape 3"/>
          <p:cNvSpPr/>
          <p:nvPr/>
        </p:nvSpPr>
        <p:spPr>
          <a:xfrm>
            <a:off x="548640" y="1874520"/>
            <a:ext cx="566928" cy="566928"/>
          </a:xfrm>
          <a:prstGeom prst="ellipse">
            <a:avLst/>
          </a:prstGeom>
          <a:solidFill>
            <a:srgbClr val="1F6F8B"/>
          </a:solidFill>
          <a:ln/>
        </p:spPr>
      </p:sp>
      <p:pic>
        <p:nvPicPr>
          <p:cNvPr id="6" name="Image 0" descr="C:\Users\KAVINESH\AppData\Local\Temp\claude\d--Chrona\07066fe5-9470-4a71-9fac-1c2f673f42c6\scratchpad\deck\icons\question.png">    </p:cNvPr>
          <p:cNvPicPr>
            <a:picLocks noChangeAspect="1"/>
          </p:cNvPicPr>
          <p:nvPr/>
        </p:nvPicPr>
        <p:blipFill>
          <a:blip r:embed="rId1"/>
          <a:stretch>
            <a:fillRect/>
          </a:stretch>
        </p:blipFill>
        <p:spPr>
          <a:xfrm>
            <a:off x="676199" y="2002079"/>
            <a:ext cx="311810" cy="311810"/>
          </a:xfrm>
          <a:prstGeom prst="rect">
            <a:avLst/>
          </a:prstGeom>
        </p:spPr>
      </p:pic>
      <p:sp>
        <p:nvSpPr>
          <p:cNvPr id="7" name="Text 4"/>
          <p:cNvSpPr/>
          <p:nvPr/>
        </p:nvSpPr>
        <p:spPr>
          <a:xfrm>
            <a:off x="1298448" y="1828800"/>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1. Introduction &amp; Context</a:t>
            </a:r>
            <a:endParaRPr lang="en-US" sz="1500" dirty="0"/>
          </a:p>
        </p:txBody>
      </p:sp>
      <p:sp>
        <p:nvSpPr>
          <p:cNvPr id="8" name="Text 5"/>
          <p:cNvSpPr/>
          <p:nvPr/>
        </p:nvSpPr>
        <p:spPr>
          <a:xfrm>
            <a:off x="1298448" y="2194560"/>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research problem and why it is a network problem</a:t>
            </a:r>
            <a:endParaRPr lang="en-US" sz="1150" dirty="0"/>
          </a:p>
        </p:txBody>
      </p:sp>
      <p:sp>
        <p:nvSpPr>
          <p:cNvPr id="9" name="Shape 6"/>
          <p:cNvSpPr/>
          <p:nvPr/>
        </p:nvSpPr>
        <p:spPr>
          <a:xfrm>
            <a:off x="548640" y="3044952"/>
            <a:ext cx="566928" cy="566928"/>
          </a:xfrm>
          <a:prstGeom prst="ellipse">
            <a:avLst/>
          </a:prstGeom>
          <a:solidFill>
            <a:srgbClr val="1F6F8B"/>
          </a:solidFill>
          <a:ln/>
        </p:spPr>
      </p:sp>
      <p:pic>
        <p:nvPicPr>
          <p:cNvPr id="10" name="Image 1" descr="C:\Users\KAVINESH\AppData\Local\Temp\claude\d--Chrona\07066fe5-9470-4a71-9fac-1c2f673f42c6\scratchpad\deck\icons\database.png">    </p:cNvPr>
          <p:cNvPicPr>
            <a:picLocks noChangeAspect="1"/>
          </p:cNvPicPr>
          <p:nvPr/>
        </p:nvPicPr>
        <p:blipFill>
          <a:blip r:embed="rId2"/>
          <a:stretch>
            <a:fillRect/>
          </a:stretch>
        </p:blipFill>
        <p:spPr>
          <a:xfrm>
            <a:off x="676199" y="3172511"/>
            <a:ext cx="311810" cy="311810"/>
          </a:xfrm>
          <a:prstGeom prst="rect">
            <a:avLst/>
          </a:prstGeom>
        </p:spPr>
      </p:pic>
      <p:sp>
        <p:nvSpPr>
          <p:cNvPr id="11" name="Text 7"/>
          <p:cNvSpPr/>
          <p:nvPr/>
        </p:nvSpPr>
        <p:spPr>
          <a:xfrm>
            <a:off x="1298448" y="2999232"/>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2. Data Collection &amp; Sources</a:t>
            </a:r>
            <a:endParaRPr lang="en-US" sz="1500" dirty="0"/>
          </a:p>
        </p:txBody>
      </p:sp>
      <p:sp>
        <p:nvSpPr>
          <p:cNvPr id="12" name="Text 8"/>
          <p:cNvSpPr/>
          <p:nvPr/>
        </p:nvSpPr>
        <p:spPr>
          <a:xfrm>
            <a:off x="1298448" y="3364992"/>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benchmark network and how it was built</a:t>
            </a:r>
            <a:endParaRPr lang="en-US" sz="1150" dirty="0"/>
          </a:p>
        </p:txBody>
      </p:sp>
      <p:sp>
        <p:nvSpPr>
          <p:cNvPr id="13" name="Shape 9"/>
          <p:cNvSpPr/>
          <p:nvPr/>
        </p:nvSpPr>
        <p:spPr>
          <a:xfrm>
            <a:off x="548640" y="4215384"/>
            <a:ext cx="566928" cy="566928"/>
          </a:xfrm>
          <a:prstGeom prst="ellipse">
            <a:avLst/>
          </a:prstGeom>
          <a:solidFill>
            <a:srgbClr val="1F6F8B"/>
          </a:solidFill>
          <a:ln/>
        </p:spPr>
      </p:sp>
      <p:pic>
        <p:nvPicPr>
          <p:cNvPr id="14" name="Image 2" descr="C:\Users\KAVINESH\AppData\Local\Temp\claude\d--Chrona\07066fe5-9470-4a71-9fac-1c2f673f42c6\scratchpad\deck\icons\network.png">    </p:cNvPr>
          <p:cNvPicPr>
            <a:picLocks noChangeAspect="1"/>
          </p:cNvPicPr>
          <p:nvPr/>
        </p:nvPicPr>
        <p:blipFill>
          <a:blip r:embed="rId3"/>
          <a:stretch>
            <a:fillRect/>
          </a:stretch>
        </p:blipFill>
        <p:spPr>
          <a:xfrm>
            <a:off x="676199" y="4342943"/>
            <a:ext cx="311810" cy="311810"/>
          </a:xfrm>
          <a:prstGeom prst="rect">
            <a:avLst/>
          </a:prstGeom>
        </p:spPr>
      </p:pic>
      <p:sp>
        <p:nvSpPr>
          <p:cNvPr id="15" name="Text 10"/>
          <p:cNvSpPr/>
          <p:nvPr/>
        </p:nvSpPr>
        <p:spPr>
          <a:xfrm>
            <a:off x="1298448" y="4169664"/>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3. Network Modeling &amp; Methodology</a:t>
            </a:r>
            <a:endParaRPr lang="en-US" sz="1500" dirty="0"/>
          </a:p>
        </p:txBody>
      </p:sp>
      <p:sp>
        <p:nvSpPr>
          <p:cNvPr id="16" name="Text 11"/>
          <p:cNvSpPr/>
          <p:nvPr/>
        </p:nvSpPr>
        <p:spPr>
          <a:xfrm>
            <a:off x="1298448" y="4535424"/>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SNA techniques applied and why</a:t>
            </a:r>
            <a:endParaRPr lang="en-US" sz="1150" dirty="0"/>
          </a:p>
        </p:txBody>
      </p:sp>
      <p:sp>
        <p:nvSpPr>
          <p:cNvPr id="17" name="Shape 12"/>
          <p:cNvSpPr/>
          <p:nvPr/>
        </p:nvSpPr>
        <p:spPr>
          <a:xfrm>
            <a:off x="548640" y="5385816"/>
            <a:ext cx="566928" cy="566928"/>
          </a:xfrm>
          <a:prstGeom prst="ellipse">
            <a:avLst/>
          </a:prstGeom>
          <a:solidFill>
            <a:srgbClr val="1F6F8B"/>
          </a:solidFill>
          <a:ln/>
        </p:spPr>
      </p:sp>
      <p:pic>
        <p:nvPicPr>
          <p:cNvPr id="18" name="Image 3" descr="C:\Users\KAVINESH\AppData\Local\Temp\claude\d--Chrona\07066fe5-9470-4a71-9fac-1c2f673f42c6\scratchpad\deck\icons\chart.png">    </p:cNvPr>
          <p:cNvPicPr>
            <a:picLocks noChangeAspect="1"/>
          </p:cNvPicPr>
          <p:nvPr/>
        </p:nvPicPr>
        <p:blipFill>
          <a:blip r:embed="rId4"/>
          <a:stretch>
            <a:fillRect/>
          </a:stretch>
        </p:blipFill>
        <p:spPr>
          <a:xfrm>
            <a:off x="676199" y="5513375"/>
            <a:ext cx="311810" cy="311810"/>
          </a:xfrm>
          <a:prstGeom prst="rect">
            <a:avLst/>
          </a:prstGeom>
        </p:spPr>
      </p:pic>
      <p:sp>
        <p:nvSpPr>
          <p:cNvPr id="19" name="Text 13"/>
          <p:cNvSpPr/>
          <p:nvPr/>
        </p:nvSpPr>
        <p:spPr>
          <a:xfrm>
            <a:off x="1298448" y="5340096"/>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4. Analysis &amp; Interpretation</a:t>
            </a:r>
            <a:endParaRPr lang="en-US" sz="1500" dirty="0"/>
          </a:p>
        </p:txBody>
      </p:sp>
      <p:sp>
        <p:nvSpPr>
          <p:cNvPr id="20" name="Text 14"/>
          <p:cNvSpPr/>
          <p:nvPr/>
        </p:nvSpPr>
        <p:spPr>
          <a:xfrm>
            <a:off x="1298448" y="5705856"/>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What the results say about network structure</a:t>
            </a:r>
            <a:endParaRPr lang="en-US" sz="1150" dirty="0"/>
          </a:p>
        </p:txBody>
      </p:sp>
      <p:sp>
        <p:nvSpPr>
          <p:cNvPr id="21" name="Shape 15"/>
          <p:cNvSpPr/>
          <p:nvPr/>
        </p:nvSpPr>
        <p:spPr>
          <a:xfrm>
            <a:off x="6080760" y="1874520"/>
            <a:ext cx="566928" cy="566928"/>
          </a:xfrm>
          <a:prstGeom prst="ellipse">
            <a:avLst/>
          </a:prstGeom>
          <a:solidFill>
            <a:srgbClr val="1F6F8B"/>
          </a:solidFill>
          <a:ln/>
        </p:spPr>
      </p:sp>
      <p:pic>
        <p:nvPicPr>
          <p:cNvPr id="22" name="Image 4" descr="C:\Users\KAVINESH\AppData\Local\Temp\claude\d--Chrona\07066fe5-9470-4a71-9fac-1c2f673f42c6\scratchpad\deck\icons\image.png">    </p:cNvPr>
          <p:cNvPicPr>
            <a:picLocks noChangeAspect="1"/>
          </p:cNvPicPr>
          <p:nvPr/>
        </p:nvPicPr>
        <p:blipFill>
          <a:blip r:embed="rId5"/>
          <a:stretch>
            <a:fillRect/>
          </a:stretch>
        </p:blipFill>
        <p:spPr>
          <a:xfrm>
            <a:off x="6208319" y="2002079"/>
            <a:ext cx="311810" cy="311810"/>
          </a:xfrm>
          <a:prstGeom prst="rect">
            <a:avLst/>
          </a:prstGeom>
        </p:spPr>
      </p:pic>
      <p:sp>
        <p:nvSpPr>
          <p:cNvPr id="23" name="Text 16"/>
          <p:cNvSpPr/>
          <p:nvPr/>
        </p:nvSpPr>
        <p:spPr>
          <a:xfrm>
            <a:off x="6830568" y="1828800"/>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5. Visualization &amp; Graph Representation</a:t>
            </a:r>
            <a:endParaRPr lang="en-US" sz="1500" dirty="0"/>
          </a:p>
        </p:txBody>
      </p:sp>
      <p:sp>
        <p:nvSpPr>
          <p:cNvPr id="24" name="Text 17"/>
          <p:cNvSpPr/>
          <p:nvPr/>
        </p:nvSpPr>
        <p:spPr>
          <a:xfrm>
            <a:off x="6830568" y="2194560"/>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Architecture diagrams and reproducible figures</a:t>
            </a:r>
            <a:endParaRPr lang="en-US" sz="1150" dirty="0"/>
          </a:p>
        </p:txBody>
      </p:sp>
      <p:sp>
        <p:nvSpPr>
          <p:cNvPr id="25" name="Shape 18"/>
          <p:cNvSpPr/>
          <p:nvPr/>
        </p:nvSpPr>
        <p:spPr>
          <a:xfrm>
            <a:off x="6080760" y="3044952"/>
            <a:ext cx="566928" cy="566928"/>
          </a:xfrm>
          <a:prstGeom prst="ellipse">
            <a:avLst/>
          </a:prstGeom>
          <a:solidFill>
            <a:srgbClr val="1F6F8B"/>
          </a:solidFill>
          <a:ln/>
        </p:spPr>
      </p:sp>
      <p:pic>
        <p:nvPicPr>
          <p:cNvPr id="26" name="Image 5" descr="C:\Users\KAVINESH\AppData\Local\Temp\claude\d--Chrona\07066fe5-9470-4a71-9fac-1c2f673f42c6\scratchpad\deck\icons\lightbulb.png">    </p:cNvPr>
          <p:cNvPicPr>
            <a:picLocks noChangeAspect="1"/>
          </p:cNvPicPr>
          <p:nvPr/>
        </p:nvPicPr>
        <p:blipFill>
          <a:blip r:embed="rId6"/>
          <a:stretch>
            <a:fillRect/>
          </a:stretch>
        </p:blipFill>
        <p:spPr>
          <a:xfrm>
            <a:off x="6208319" y="3172511"/>
            <a:ext cx="311810" cy="311810"/>
          </a:xfrm>
          <a:prstGeom prst="rect">
            <a:avLst/>
          </a:prstGeom>
        </p:spPr>
      </p:pic>
      <p:sp>
        <p:nvSpPr>
          <p:cNvPr id="27" name="Text 19"/>
          <p:cNvSpPr/>
          <p:nvPr/>
        </p:nvSpPr>
        <p:spPr>
          <a:xfrm>
            <a:off x="6830568" y="2999232"/>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6. Discussion &amp; Implications</a:t>
            </a:r>
            <a:endParaRPr lang="en-US" sz="1500" dirty="0"/>
          </a:p>
        </p:txBody>
      </p:sp>
      <p:sp>
        <p:nvSpPr>
          <p:cNvPr id="28" name="Text 20"/>
          <p:cNvSpPr/>
          <p:nvPr/>
        </p:nvSpPr>
        <p:spPr>
          <a:xfrm>
            <a:off x="6830568" y="3364992"/>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Real-world relevance and limitations</a:t>
            </a:r>
            <a:endParaRPr lang="en-US" sz="1150" dirty="0"/>
          </a:p>
        </p:txBody>
      </p:sp>
      <p:sp>
        <p:nvSpPr>
          <p:cNvPr id="29" name="Shape 21"/>
          <p:cNvSpPr/>
          <p:nvPr/>
        </p:nvSpPr>
        <p:spPr>
          <a:xfrm>
            <a:off x="6080760" y="4215384"/>
            <a:ext cx="566928" cy="566928"/>
          </a:xfrm>
          <a:prstGeom prst="ellipse">
            <a:avLst/>
          </a:prstGeom>
          <a:solidFill>
            <a:srgbClr val="1F6F8B"/>
          </a:solidFill>
          <a:ln/>
        </p:spPr>
      </p:sp>
      <p:pic>
        <p:nvPicPr>
          <p:cNvPr id="30" name="Image 6" descr="C:\Users\KAVINESH\AppData\Local\Temp\claude\d--Chrona\07066fe5-9470-4a71-9fac-1c2f673f42c6\scratchpad\deck\icons\flag.png">    </p:cNvPr>
          <p:cNvPicPr>
            <a:picLocks noChangeAspect="1"/>
          </p:cNvPicPr>
          <p:nvPr/>
        </p:nvPicPr>
        <p:blipFill>
          <a:blip r:embed="rId7"/>
          <a:stretch>
            <a:fillRect/>
          </a:stretch>
        </p:blipFill>
        <p:spPr>
          <a:xfrm>
            <a:off x="6208319" y="4342943"/>
            <a:ext cx="311810" cy="311810"/>
          </a:xfrm>
          <a:prstGeom prst="rect">
            <a:avLst/>
          </a:prstGeom>
        </p:spPr>
      </p:pic>
      <p:sp>
        <p:nvSpPr>
          <p:cNvPr id="31" name="Text 22"/>
          <p:cNvSpPr/>
          <p:nvPr/>
        </p:nvSpPr>
        <p:spPr>
          <a:xfrm>
            <a:off x="6830568" y="4169664"/>
            <a:ext cx="443484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7. Conclusion &amp; Summary</a:t>
            </a:r>
            <a:endParaRPr lang="en-US" sz="1500" dirty="0"/>
          </a:p>
        </p:txBody>
      </p:sp>
      <p:sp>
        <p:nvSpPr>
          <p:cNvPr id="32" name="Text 23"/>
          <p:cNvSpPr/>
          <p:nvPr/>
        </p:nvSpPr>
        <p:spPr>
          <a:xfrm>
            <a:off x="6830568" y="4535424"/>
            <a:ext cx="4434840" cy="45720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Key takeaways</a:t>
            </a:r>
            <a:endParaRPr lang="en-US" sz="1150" dirty="0"/>
          </a:p>
        </p:txBody>
      </p:sp>
      <p:sp>
        <p:nvSpPr>
          <p:cNvPr id="33" name="Text 24"/>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1. INTRODUCTION &amp; CONTEXT</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Why Is This a Network Problem?</a:t>
            </a:r>
            <a:endParaRPr lang="en-US" sz="3000" dirty="0"/>
          </a:p>
        </p:txBody>
      </p:sp>
      <p:sp>
        <p:nvSpPr>
          <p:cNvPr id="4" name="Shape 2"/>
          <p:cNvSpPr/>
          <p:nvPr/>
        </p:nvSpPr>
        <p:spPr>
          <a:xfrm>
            <a:off x="548640" y="1417320"/>
            <a:ext cx="5760720" cy="1965960"/>
          </a:xfrm>
          <a:prstGeom prst="roundRect">
            <a:avLst>
              <a:gd name="adj" fmla="val 3721"/>
            </a:avLst>
          </a:prstGeom>
          <a:solidFill>
            <a:srgbClr val="14213D"/>
          </a:solidFill>
          <a:ln/>
        </p:spPr>
      </p:sp>
      <p:sp>
        <p:nvSpPr>
          <p:cNvPr id="5" name="Shape 3"/>
          <p:cNvSpPr/>
          <p:nvPr/>
        </p:nvSpPr>
        <p:spPr>
          <a:xfrm>
            <a:off x="822960" y="1691640"/>
            <a:ext cx="502920" cy="502920"/>
          </a:xfrm>
          <a:prstGeom prst="ellipse">
            <a:avLst/>
          </a:prstGeom>
          <a:solidFill>
            <a:srgbClr val="FF6B4A"/>
          </a:solidFill>
          <a:ln/>
        </p:spPr>
      </p:sp>
      <p:pic>
        <p:nvPicPr>
          <p:cNvPr id="6" name="Image 0" descr="C:\Users\KAVINESH\AppData\Local\Temp\claude\d--Chrona\07066fe5-9470-4a71-9fac-1c2f673f42c6\scratchpad\deck\icons\question.png">    </p:cNvPr>
          <p:cNvPicPr>
            <a:picLocks noChangeAspect="1"/>
          </p:cNvPicPr>
          <p:nvPr/>
        </p:nvPicPr>
        <p:blipFill>
          <a:blip r:embed="rId1"/>
          <a:stretch>
            <a:fillRect/>
          </a:stretch>
        </p:blipFill>
        <p:spPr>
          <a:xfrm>
            <a:off x="936117" y="1804797"/>
            <a:ext cx="276606" cy="276606"/>
          </a:xfrm>
          <a:prstGeom prst="rect">
            <a:avLst/>
          </a:prstGeom>
        </p:spPr>
      </p:pic>
      <p:sp>
        <p:nvSpPr>
          <p:cNvPr id="7" name="Text 4"/>
          <p:cNvSpPr/>
          <p:nvPr/>
        </p:nvSpPr>
        <p:spPr>
          <a:xfrm>
            <a:off x="1463040" y="1664208"/>
            <a:ext cx="3657600" cy="274320"/>
          </a:xfrm>
          <a:prstGeom prst="rect">
            <a:avLst/>
          </a:prstGeom>
          <a:noFill/>
          <a:ln/>
        </p:spPr>
        <p:txBody>
          <a:bodyPr wrap="square" rtlCol="0" anchor="ctr"/>
          <a:lstStyle/>
          <a:p>
            <a:pPr indent="0" marL="0">
              <a:buNone/>
            </a:pPr>
            <a:r>
              <a:rPr lang="en-US" sz="1100" b="1" spc="150" kern="0" dirty="0">
                <a:solidFill>
                  <a:srgbClr val="FF6B4A"/>
                </a:solidFill>
                <a:latin typeface="Calibri" pitchFamily="34" charset="0"/>
                <a:ea typeface="Calibri" pitchFamily="34" charset="-122"/>
                <a:cs typeface="Calibri" pitchFamily="34" charset="-120"/>
              </a:rPr>
              <a:t>RESEARCH QUESTION</a:t>
            </a:r>
            <a:endParaRPr lang="en-US" sz="1100" dirty="0"/>
          </a:p>
        </p:txBody>
      </p:sp>
      <p:sp>
        <p:nvSpPr>
          <p:cNvPr id="8" name="Text 5"/>
          <p:cNvSpPr/>
          <p:nvPr/>
        </p:nvSpPr>
        <p:spPr>
          <a:xfrm>
            <a:off x="868680" y="2331720"/>
            <a:ext cx="5120640" cy="9601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Does modeling tweets, users, and entities as a connected graph detect real-world events more reliably than text alone — and can it be done incrementally, as new messages keep arriving?</a:t>
            </a:r>
            <a:endParaRPr lang="en-US" sz="1350" dirty="0"/>
          </a:p>
        </p:txBody>
      </p:sp>
      <p:sp>
        <p:nvSpPr>
          <p:cNvPr id="9" name="Text 6"/>
          <p:cNvSpPr/>
          <p:nvPr/>
        </p:nvSpPr>
        <p:spPr>
          <a:xfrm>
            <a:off x="548640" y="3611880"/>
            <a:ext cx="5760720" cy="137160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A tweet in isolation is short and ambiguous. What disambiguates it is relational context — who posted it, and which other messages share its users, entities, or keywords. That relational context is a network, and this case study models it as one.</a:t>
            </a:r>
            <a:endParaRPr lang="en-US" sz="1250" dirty="0"/>
          </a:p>
        </p:txBody>
      </p:sp>
      <p:sp>
        <p:nvSpPr>
          <p:cNvPr id="10" name="Text 7"/>
          <p:cNvSpPr/>
          <p:nvPr/>
        </p:nvSpPr>
        <p:spPr>
          <a:xfrm>
            <a:off x="6629400" y="1417320"/>
            <a:ext cx="5029200" cy="274320"/>
          </a:xfrm>
          <a:prstGeom prst="rect">
            <a:avLst/>
          </a:prstGeom>
          <a:noFill/>
          <a:ln/>
        </p:spPr>
        <p:txBody>
          <a:bodyPr wrap="square" rtlCol="0" anchor="ctr"/>
          <a:lstStyle/>
          <a:p>
            <a:pPr indent="0" marL="0">
              <a:buNone/>
            </a:pPr>
            <a:r>
              <a:rPr lang="en-US" sz="1100" b="1" spc="120" kern="0" dirty="0">
                <a:solidFill>
                  <a:srgbClr val="1F6F8B"/>
                </a:solidFill>
                <a:latin typeface="Calibri" pitchFamily="34" charset="0"/>
                <a:ea typeface="Calibri" pitchFamily="34" charset="-122"/>
                <a:cs typeface="Calibri" pitchFamily="34" charset="-120"/>
              </a:rPr>
              <a:t>THREE CHALLENGES THIS MODEL ADDRESSES</a:t>
            </a:r>
            <a:endParaRPr lang="en-US" sz="1100" dirty="0"/>
          </a:p>
        </p:txBody>
      </p:sp>
      <p:sp>
        <p:nvSpPr>
          <p:cNvPr id="11" name="Shape 8"/>
          <p:cNvSpPr/>
          <p:nvPr/>
        </p:nvSpPr>
        <p:spPr>
          <a:xfrm>
            <a:off x="6629400" y="1828800"/>
            <a:ext cx="457200" cy="457200"/>
          </a:xfrm>
          <a:prstGeom prst="ellipse">
            <a:avLst/>
          </a:prstGeom>
          <a:solidFill>
            <a:srgbClr val="1F6F8B"/>
          </a:solidFill>
          <a:ln/>
        </p:spPr>
      </p:sp>
      <p:pic>
        <p:nvPicPr>
          <p:cNvPr id="12" name="Image 1" descr="C:\Users\KAVINESH\AppData\Local\Temp\claude\d--Chrona\07066fe5-9470-4a71-9fac-1c2f673f42c6\scratchpad\deck\icons\warning.png">    </p:cNvPr>
          <p:cNvPicPr>
            <a:picLocks noChangeAspect="1"/>
          </p:cNvPicPr>
          <p:nvPr/>
        </p:nvPicPr>
        <p:blipFill>
          <a:blip r:embed="rId2"/>
          <a:stretch>
            <a:fillRect/>
          </a:stretch>
        </p:blipFill>
        <p:spPr>
          <a:xfrm>
            <a:off x="6732270" y="1931670"/>
            <a:ext cx="251460" cy="251460"/>
          </a:xfrm>
          <a:prstGeom prst="rect">
            <a:avLst/>
          </a:prstGeom>
        </p:spPr>
      </p:pic>
      <p:sp>
        <p:nvSpPr>
          <p:cNvPr id="13" name="Text 9"/>
          <p:cNvSpPr/>
          <p:nvPr/>
        </p:nvSpPr>
        <p:spPr>
          <a:xfrm>
            <a:off x="7269480" y="1801368"/>
            <a:ext cx="4389120" cy="320040"/>
          </a:xfrm>
          <a:prstGeom prst="rect">
            <a:avLst/>
          </a:prstGeom>
          <a:noFill/>
          <a:ln/>
        </p:spPr>
        <p:txBody>
          <a:bodyPr wrap="square"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Vocabulary gap</a:t>
            </a:r>
            <a:endParaRPr lang="en-US" sz="1400" dirty="0"/>
          </a:p>
        </p:txBody>
      </p:sp>
      <p:sp>
        <p:nvSpPr>
          <p:cNvPr id="14" name="Text 10"/>
          <p:cNvSpPr/>
          <p:nvPr/>
        </p:nvSpPr>
        <p:spPr>
          <a:xfrm>
            <a:off x="7269480" y="2121408"/>
            <a:ext cx="4389120" cy="50292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Slang &amp; abbreviations break simple keyword matching</a:t>
            </a:r>
            <a:endParaRPr lang="en-US" sz="1150" dirty="0"/>
          </a:p>
        </p:txBody>
      </p:sp>
      <p:sp>
        <p:nvSpPr>
          <p:cNvPr id="15" name="Shape 11"/>
          <p:cNvSpPr/>
          <p:nvPr/>
        </p:nvSpPr>
        <p:spPr>
          <a:xfrm>
            <a:off x="6629400" y="2788920"/>
            <a:ext cx="457200" cy="457200"/>
          </a:xfrm>
          <a:prstGeom prst="ellipse">
            <a:avLst/>
          </a:prstGeom>
          <a:solidFill>
            <a:srgbClr val="1F6F8B"/>
          </a:solidFill>
          <a:ln/>
        </p:spPr>
      </p:sp>
      <p:pic>
        <p:nvPicPr>
          <p:cNvPr id="16" name="Image 2" descr="C:\Users\KAVINESH\AppData\Local\Temp\claude\d--Chrona\07066fe5-9470-4a71-9fac-1c2f673f42c6\scratchpad\deck\icons\warning.png">    </p:cNvPr>
          <p:cNvPicPr>
            <a:picLocks noChangeAspect="1"/>
          </p:cNvPicPr>
          <p:nvPr/>
        </p:nvPicPr>
        <p:blipFill>
          <a:blip r:embed="rId3"/>
          <a:stretch>
            <a:fillRect/>
          </a:stretch>
        </p:blipFill>
        <p:spPr>
          <a:xfrm>
            <a:off x="6732270" y="2891790"/>
            <a:ext cx="251460" cy="251460"/>
          </a:xfrm>
          <a:prstGeom prst="rect">
            <a:avLst/>
          </a:prstGeom>
        </p:spPr>
      </p:pic>
      <p:sp>
        <p:nvSpPr>
          <p:cNvPr id="17" name="Text 12"/>
          <p:cNvSpPr/>
          <p:nvPr/>
        </p:nvSpPr>
        <p:spPr>
          <a:xfrm>
            <a:off x="7269480" y="2761488"/>
            <a:ext cx="4389120" cy="320040"/>
          </a:xfrm>
          <a:prstGeom prst="rect">
            <a:avLst/>
          </a:prstGeom>
          <a:noFill/>
          <a:ln/>
        </p:spPr>
        <p:txBody>
          <a:bodyPr wrap="square"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Short, unstructured messages</a:t>
            </a:r>
            <a:endParaRPr lang="en-US" sz="1400" dirty="0"/>
          </a:p>
        </p:txBody>
      </p:sp>
      <p:sp>
        <p:nvSpPr>
          <p:cNvPr id="18" name="Text 13"/>
          <p:cNvSpPr/>
          <p:nvPr/>
        </p:nvSpPr>
        <p:spPr>
          <a:xfrm>
            <a:off x="7269480" y="3081528"/>
            <a:ext cx="4389120" cy="50292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Individual tweets carry too little signal alone</a:t>
            </a:r>
            <a:endParaRPr lang="en-US" sz="1150" dirty="0"/>
          </a:p>
        </p:txBody>
      </p:sp>
      <p:sp>
        <p:nvSpPr>
          <p:cNvPr id="19" name="Shape 14"/>
          <p:cNvSpPr/>
          <p:nvPr/>
        </p:nvSpPr>
        <p:spPr>
          <a:xfrm>
            <a:off x="6629400" y="3749040"/>
            <a:ext cx="457200" cy="457200"/>
          </a:xfrm>
          <a:prstGeom prst="ellipse">
            <a:avLst/>
          </a:prstGeom>
          <a:solidFill>
            <a:srgbClr val="1F6F8B"/>
          </a:solidFill>
          <a:ln/>
        </p:spPr>
      </p:sp>
      <p:pic>
        <p:nvPicPr>
          <p:cNvPr id="20" name="Image 3" descr="C:\Users\KAVINESH\AppData\Local\Temp\claude\d--Chrona\07066fe5-9470-4a71-9fac-1c2f673f42c6\scratchpad\deck\icons\warning.png">    </p:cNvPr>
          <p:cNvPicPr>
            <a:picLocks noChangeAspect="1"/>
          </p:cNvPicPr>
          <p:nvPr/>
        </p:nvPicPr>
        <p:blipFill>
          <a:blip r:embed="rId4"/>
          <a:stretch>
            <a:fillRect/>
          </a:stretch>
        </p:blipFill>
        <p:spPr>
          <a:xfrm>
            <a:off x="6732270" y="3851910"/>
            <a:ext cx="251460" cy="251460"/>
          </a:xfrm>
          <a:prstGeom prst="rect">
            <a:avLst/>
          </a:prstGeom>
        </p:spPr>
      </p:pic>
      <p:sp>
        <p:nvSpPr>
          <p:cNvPr id="21" name="Text 15"/>
          <p:cNvSpPr/>
          <p:nvPr/>
        </p:nvSpPr>
        <p:spPr>
          <a:xfrm>
            <a:off x="7269480" y="3721608"/>
            <a:ext cx="4389120" cy="320040"/>
          </a:xfrm>
          <a:prstGeom prst="rect">
            <a:avLst/>
          </a:prstGeom>
          <a:noFill/>
          <a:ln/>
        </p:spPr>
        <p:txBody>
          <a:bodyPr wrap="square"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Continuous new nodes/edges</a:t>
            </a:r>
            <a:endParaRPr lang="en-US" sz="1400" dirty="0"/>
          </a:p>
        </p:txBody>
      </p:sp>
      <p:sp>
        <p:nvSpPr>
          <p:cNvPr id="22" name="Text 16"/>
          <p:cNvSpPr/>
          <p:nvPr/>
        </p:nvSpPr>
        <p:spPr>
          <a:xfrm>
            <a:off x="7269480" y="4041648"/>
            <a:ext cx="4389120" cy="50292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network keeps growing — it can’t be treated as a static snapshot</a:t>
            </a:r>
            <a:endParaRPr lang="en-US" sz="1150" dirty="0"/>
          </a:p>
        </p:txBody>
      </p:sp>
      <p:sp>
        <p:nvSpPr>
          <p:cNvPr id="23" name="Shape 17"/>
          <p:cNvSpPr/>
          <p:nvPr/>
        </p:nvSpPr>
        <p:spPr>
          <a:xfrm>
            <a:off x="6629400" y="4754880"/>
            <a:ext cx="5029200" cy="960120"/>
          </a:xfrm>
          <a:prstGeom prst="roundRect">
            <a:avLst>
              <a:gd name="adj" fmla="val 7619"/>
            </a:avLst>
          </a:prstGeom>
          <a:solidFill>
            <a:srgbClr val="FFFFFF"/>
          </a:solidFill>
          <a:ln w="12700">
            <a:solidFill>
              <a:srgbClr val="E2E8F0"/>
            </a:solidFill>
            <a:prstDash val="solid"/>
          </a:ln>
        </p:spPr>
      </p:sp>
      <p:sp>
        <p:nvSpPr>
          <p:cNvPr id="24" name="Text 18"/>
          <p:cNvSpPr/>
          <p:nvPr/>
        </p:nvSpPr>
        <p:spPr>
          <a:xfrm>
            <a:off x="6812280" y="4846320"/>
            <a:ext cx="4663440" cy="77724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Relevance: reliable, early event detection over an evolving social graph directly supports disaster response, public-safety monitoring, and misinformation tracking.</a:t>
            </a:r>
            <a:endParaRPr lang="en-US" sz="1100" dirty="0"/>
          </a:p>
        </p:txBody>
      </p:sp>
      <p:sp>
        <p:nvSpPr>
          <p:cNvPr id="25" name="Text 19"/>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2. NETWORK DATA COLLECTION &amp; SOURCES</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The Benchmark Network</a:t>
            </a:r>
            <a:endParaRPr lang="en-US" sz="3000" dirty="0"/>
          </a:p>
        </p:txBody>
      </p:sp>
      <p:sp>
        <p:nvSpPr>
          <p:cNvPr id="4" name="Shape 2"/>
          <p:cNvSpPr/>
          <p:nvPr/>
        </p:nvSpPr>
        <p:spPr>
          <a:xfrm>
            <a:off x="548640" y="1417320"/>
            <a:ext cx="2743200" cy="960120"/>
          </a:xfrm>
          <a:prstGeom prst="roundRect">
            <a:avLst>
              <a:gd name="adj" fmla="val 7619"/>
            </a:avLst>
          </a:prstGeom>
          <a:solidFill>
            <a:srgbClr val="FFFFFF"/>
          </a:solidFill>
          <a:ln w="12700">
            <a:solidFill>
              <a:srgbClr val="E2E8F0"/>
            </a:solidFill>
            <a:prstDash val="solid"/>
          </a:ln>
        </p:spPr>
      </p:sp>
      <p:sp>
        <p:nvSpPr>
          <p:cNvPr id="5" name="Text 3"/>
          <p:cNvSpPr/>
          <p:nvPr/>
        </p:nvSpPr>
        <p:spPr>
          <a:xfrm>
            <a:off x="548640" y="1490472"/>
            <a:ext cx="2743200" cy="502920"/>
          </a:xfrm>
          <a:prstGeom prst="rect">
            <a:avLst/>
          </a:prstGeom>
          <a:noFill/>
          <a:ln/>
        </p:spPr>
        <p:txBody>
          <a:bodyPr wrap="square"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68,841</a:t>
            </a:r>
            <a:endParaRPr lang="en-US" sz="2400" dirty="0"/>
          </a:p>
        </p:txBody>
      </p:sp>
      <p:sp>
        <p:nvSpPr>
          <p:cNvPr id="6" name="Text 4"/>
          <p:cNvSpPr/>
          <p:nvPr/>
        </p:nvSpPr>
        <p:spPr>
          <a:xfrm>
            <a:off x="548640" y="2002536"/>
            <a:ext cx="2743200" cy="3200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Messages</a:t>
            </a:r>
            <a:endParaRPr lang="en-US" sz="1100" dirty="0"/>
          </a:p>
        </p:txBody>
      </p:sp>
      <p:sp>
        <p:nvSpPr>
          <p:cNvPr id="7" name="Shape 5"/>
          <p:cNvSpPr/>
          <p:nvPr/>
        </p:nvSpPr>
        <p:spPr>
          <a:xfrm>
            <a:off x="3474720" y="1417320"/>
            <a:ext cx="2743200" cy="960120"/>
          </a:xfrm>
          <a:prstGeom prst="roundRect">
            <a:avLst>
              <a:gd name="adj" fmla="val 7619"/>
            </a:avLst>
          </a:prstGeom>
          <a:solidFill>
            <a:srgbClr val="FFFFFF"/>
          </a:solidFill>
          <a:ln w="12700">
            <a:solidFill>
              <a:srgbClr val="E2E8F0"/>
            </a:solidFill>
            <a:prstDash val="solid"/>
          </a:ln>
        </p:spPr>
      </p:sp>
      <p:sp>
        <p:nvSpPr>
          <p:cNvPr id="8" name="Text 6"/>
          <p:cNvSpPr/>
          <p:nvPr/>
        </p:nvSpPr>
        <p:spPr>
          <a:xfrm>
            <a:off x="3474720" y="1490472"/>
            <a:ext cx="2743200" cy="502920"/>
          </a:xfrm>
          <a:prstGeom prst="rect">
            <a:avLst/>
          </a:prstGeom>
          <a:noFill/>
          <a:ln/>
        </p:spPr>
        <p:txBody>
          <a:bodyPr wrap="square"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503</a:t>
            </a:r>
            <a:endParaRPr lang="en-US" sz="2400" dirty="0"/>
          </a:p>
        </p:txBody>
      </p:sp>
      <p:sp>
        <p:nvSpPr>
          <p:cNvPr id="9" name="Text 7"/>
          <p:cNvSpPr/>
          <p:nvPr/>
        </p:nvSpPr>
        <p:spPr>
          <a:xfrm>
            <a:off x="3474720" y="2002536"/>
            <a:ext cx="2743200" cy="3200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Event categories</a:t>
            </a:r>
            <a:endParaRPr lang="en-US" sz="1100" dirty="0"/>
          </a:p>
        </p:txBody>
      </p:sp>
      <p:sp>
        <p:nvSpPr>
          <p:cNvPr id="10" name="Shape 8"/>
          <p:cNvSpPr/>
          <p:nvPr/>
        </p:nvSpPr>
        <p:spPr>
          <a:xfrm>
            <a:off x="548640" y="2542032"/>
            <a:ext cx="2743200" cy="960120"/>
          </a:xfrm>
          <a:prstGeom prst="roundRect">
            <a:avLst>
              <a:gd name="adj" fmla="val 7619"/>
            </a:avLst>
          </a:prstGeom>
          <a:solidFill>
            <a:srgbClr val="FFFFFF"/>
          </a:solidFill>
          <a:ln w="12700">
            <a:solidFill>
              <a:srgbClr val="E2E8F0"/>
            </a:solidFill>
            <a:prstDash val="solid"/>
          </a:ln>
        </p:spPr>
      </p:sp>
      <p:sp>
        <p:nvSpPr>
          <p:cNvPr id="11" name="Text 9"/>
          <p:cNvSpPr/>
          <p:nvPr/>
        </p:nvSpPr>
        <p:spPr>
          <a:xfrm>
            <a:off x="548640" y="2615184"/>
            <a:ext cx="2743200" cy="502920"/>
          </a:xfrm>
          <a:prstGeom prst="rect">
            <a:avLst/>
          </a:prstGeom>
          <a:noFill/>
          <a:ln/>
        </p:spPr>
        <p:txBody>
          <a:bodyPr wrap="square"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16.36M</a:t>
            </a:r>
            <a:endParaRPr lang="en-US" sz="2400" dirty="0"/>
          </a:p>
        </p:txBody>
      </p:sp>
      <p:sp>
        <p:nvSpPr>
          <p:cNvPr id="12" name="Text 10"/>
          <p:cNvSpPr/>
          <p:nvPr/>
        </p:nvSpPr>
        <p:spPr>
          <a:xfrm>
            <a:off x="548640" y="3127248"/>
            <a:ext cx="2743200" cy="3200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Graph edges</a:t>
            </a:r>
            <a:endParaRPr lang="en-US" sz="1100" dirty="0"/>
          </a:p>
        </p:txBody>
      </p:sp>
      <p:sp>
        <p:nvSpPr>
          <p:cNvPr id="13" name="Shape 11"/>
          <p:cNvSpPr/>
          <p:nvPr/>
        </p:nvSpPr>
        <p:spPr>
          <a:xfrm>
            <a:off x="3474720" y="2542032"/>
            <a:ext cx="2743200" cy="960120"/>
          </a:xfrm>
          <a:prstGeom prst="roundRect">
            <a:avLst>
              <a:gd name="adj" fmla="val 7619"/>
            </a:avLst>
          </a:prstGeom>
          <a:solidFill>
            <a:srgbClr val="FFFFFF"/>
          </a:solidFill>
          <a:ln w="12700">
            <a:solidFill>
              <a:srgbClr val="E2E8F0"/>
            </a:solidFill>
            <a:prstDash val="solid"/>
          </a:ln>
        </p:spPr>
      </p:sp>
      <p:sp>
        <p:nvSpPr>
          <p:cNvPr id="14" name="Text 12"/>
          <p:cNvSpPr/>
          <p:nvPr/>
        </p:nvSpPr>
        <p:spPr>
          <a:xfrm>
            <a:off x="3474720" y="2615184"/>
            <a:ext cx="2743200" cy="502920"/>
          </a:xfrm>
          <a:prstGeom prst="rect">
            <a:avLst/>
          </a:prstGeom>
          <a:noFill/>
          <a:ln/>
        </p:spPr>
        <p:txBody>
          <a:bodyPr wrap="square"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28 days</a:t>
            </a:r>
            <a:endParaRPr lang="en-US" sz="2400" dirty="0"/>
          </a:p>
        </p:txBody>
      </p:sp>
      <p:sp>
        <p:nvSpPr>
          <p:cNvPr id="15" name="Text 13"/>
          <p:cNvSpPr/>
          <p:nvPr/>
        </p:nvSpPr>
        <p:spPr>
          <a:xfrm>
            <a:off x="3474720" y="3127248"/>
            <a:ext cx="2743200" cy="3200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Oct 10 – Nov 7, 2022</a:t>
            </a:r>
            <a:endParaRPr lang="en-US" sz="1100" dirty="0"/>
          </a:p>
        </p:txBody>
      </p:sp>
      <p:sp>
        <p:nvSpPr>
          <p:cNvPr id="16" name="Text 14"/>
          <p:cNvSpPr/>
          <p:nvPr/>
        </p:nvSpPr>
        <p:spPr>
          <a:xfrm>
            <a:off x="548640" y="3794760"/>
            <a:ext cx="5486400" cy="274320"/>
          </a:xfrm>
          <a:prstGeom prst="rect">
            <a:avLst/>
          </a:prstGeom>
          <a:noFill/>
          <a:ln/>
        </p:spPr>
        <p:txBody>
          <a:bodyPr wrap="square" rtlCol="0" anchor="ctr"/>
          <a:lstStyle/>
          <a:p>
            <a:pPr indent="0" marL="0">
              <a:buNone/>
            </a:pPr>
            <a:r>
              <a:rPr lang="en-US" sz="1100" b="1" spc="120" kern="0" dirty="0">
                <a:solidFill>
                  <a:srgbClr val="1F6F8B"/>
                </a:solidFill>
                <a:latin typeface="Calibri" pitchFamily="34" charset="0"/>
                <a:ea typeface="Calibri" pitchFamily="34" charset="-122"/>
                <a:cs typeface="Calibri" pitchFamily="34" charset="-120"/>
              </a:rPr>
              <a:t>SOURCE &amp; HONESTY NOTE</a:t>
            </a:r>
            <a:endParaRPr lang="en-US" sz="1100" dirty="0"/>
          </a:p>
        </p:txBody>
      </p:sp>
      <p:sp>
        <p:nvSpPr>
          <p:cNvPr id="17" name="Text 15"/>
          <p:cNvSpPr/>
          <p:nvPr/>
        </p:nvSpPr>
        <p:spPr>
          <a:xfrm>
            <a:off x="548640" y="4096512"/>
            <a:ext cx="5669280" cy="173736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This Twitter benchmark was </a:t>
            </a:r>
            <a:pPr indent="0" marL="0">
              <a:buNone/>
            </a:pPr>
            <a:r>
              <a:rPr lang="en-US" sz="1250" b="1" dirty="0">
                <a:solidFill>
                  <a:srgbClr val="14213D"/>
                </a:solidFill>
                <a:latin typeface="Calibri" pitchFamily="34" charset="0"/>
                <a:ea typeface="Calibri" pitchFamily="34" charset="-122"/>
                <a:cs typeface="Calibri" pitchFamily="34" charset="-120"/>
              </a:rPr>
              <a:t>not collected for this case study</a:t>
            </a:r>
            <a:pPr indent="0" marL="0">
              <a:buNone/>
            </a:pPr>
            <a:r>
              <a:rPr lang="en-US" sz="1250" dirty="0">
                <a:solidFill>
                  <a:srgbClr val="4A5568"/>
                </a:solidFill>
                <a:latin typeface="Calibri" pitchFamily="34" charset="0"/>
                <a:ea typeface="Calibri" pitchFamily="34" charset="-122"/>
                <a:cs typeface="Calibri" pitchFamily="34" charset="-120"/>
              </a:rPr>
              <a:t> — it originates from the QSGNN benchmark (Ren et al., 2022) and is reused here, exactly as the base paper reuses it, so results stay comparable to prior published baselines (Word2Vec, LDA, BERT, KPGNN, QSGNN, …).</a:t>
            </a:r>
            <a:endParaRPr lang="en-US" sz="1250" dirty="0"/>
          </a:p>
        </p:txBody>
      </p:sp>
      <p:pic>
        <p:nvPicPr>
          <p:cNvPr id="18" name="Image 0" descr="D:\Chrona\assets\Data_Preprocessing.png">    </p:cNvPr>
          <p:cNvPicPr>
            <a:picLocks noChangeAspect="1"/>
          </p:cNvPicPr>
          <p:nvPr/>
        </p:nvPicPr>
        <p:blipFill>
          <a:blip r:embed="rId1"/>
          <a:stretch>
            <a:fillRect/>
          </a:stretch>
        </p:blipFill>
        <p:spPr>
          <a:xfrm>
            <a:off x="6537960" y="1417320"/>
            <a:ext cx="5120640" cy="3054096"/>
          </a:xfrm>
          <a:prstGeom prst="rect">
            <a:avLst/>
          </a:prstGeom>
        </p:spPr>
      </p:pic>
      <p:sp>
        <p:nvSpPr>
          <p:cNvPr id="19" name="Text 16"/>
          <p:cNvSpPr/>
          <p:nvPr/>
        </p:nvSpPr>
        <p:spPr>
          <a:xfrm>
            <a:off x="6537960" y="4526280"/>
            <a:ext cx="5120640" cy="365760"/>
          </a:xfrm>
          <a:prstGeom prst="rect">
            <a:avLst/>
          </a:prstGeom>
          <a:noFill/>
          <a:ln/>
        </p:spPr>
        <p:txBody>
          <a:bodyPr wrap="square" rtlCol="0" anchor="ctr"/>
          <a:lstStyle/>
          <a:p>
            <a:pPr algn="ctr" indent="0" marL="0">
              <a:buNone/>
            </a:pPr>
            <a:r>
              <a:rPr lang="en-US" sz="1000" i="1" dirty="0">
                <a:solidFill>
                  <a:srgbClr val="8A94A6"/>
                </a:solidFill>
                <a:latin typeface="Calibri" pitchFamily="34" charset="0"/>
                <a:ea typeface="Calibri" pitchFamily="34" charset="-122"/>
                <a:cs typeface="Calibri" pitchFamily="34" charset="-120"/>
              </a:rPr>
              <a:t>Fig. Raw message block → heterogeneous social graph → homogeneous message graph</a:t>
            </a:r>
            <a:endParaRPr lang="en-US" sz="1000" dirty="0"/>
          </a:p>
        </p:txBody>
      </p:sp>
      <p:sp>
        <p:nvSpPr>
          <p:cNvPr id="20" name="Text 17"/>
          <p:cNvSpPr/>
          <p:nvPr/>
        </p:nvSpPr>
        <p:spPr>
          <a:xfrm>
            <a:off x="6537960" y="4983480"/>
            <a:ext cx="5120640" cy="3200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What this repo builds instead: the raw stream → graph pipeline</a:t>
            </a:r>
            <a:endParaRPr lang="en-US" sz="1300" dirty="0"/>
          </a:p>
        </p:txBody>
      </p:sp>
      <p:sp>
        <p:nvSpPr>
          <p:cNvPr id="21" name="Text 18"/>
          <p:cNvSpPr/>
          <p:nvPr/>
        </p:nvSpPr>
        <p:spPr>
          <a:xfrm>
            <a:off x="6537960" y="5303520"/>
            <a:ext cx="5120640" cy="1188720"/>
          </a:xfrm>
          <a:prstGeom prst="rect">
            <a:avLst/>
          </a:prstGeom>
          <a:noFill/>
          <a:ln/>
        </p:spPr>
        <p:txBody>
          <a:bodyPr wrap="square" rtlCol="0" anchor="t"/>
          <a:lstStyle/>
          <a:p>
            <a:pPr indent="0" marL="0">
              <a:buNone/>
            </a:pPr>
            <a:r>
              <a:rPr lang="en-US" sz="1150" dirty="0">
                <a:solidFill>
                  <a:srgbClr val="4A5568"/>
                </a:solidFill>
                <a:latin typeface="Calibri" pitchFamily="34" charset="0"/>
                <a:ea typeface="Calibri" pitchFamily="34" charset="-122"/>
                <a:cs typeface="Calibri" pitchFamily="34" charset="-120"/>
              </a:rPr>
              <a:t>Messages, users, entities (via NER), and keywords become nodes; edges link a message to what it contains. The heterogeneous network is then projected into a homogeneous message–message graph — fully reproducible via custom_message_graph.py.</a:t>
            </a:r>
            <a:endParaRPr lang="en-US" sz="1150" dirty="0"/>
          </a:p>
        </p:txBody>
      </p:sp>
      <p:sp>
        <p:nvSpPr>
          <p:cNvPr id="22" name="Text 19"/>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3. NETWORK MODELING &amp; METHODOLOGY</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SNA Techniques Applied — and Why</a:t>
            </a:r>
            <a:endParaRPr lang="en-US" sz="3000" dirty="0"/>
          </a:p>
        </p:txBody>
      </p:sp>
      <p:sp>
        <p:nvSpPr>
          <p:cNvPr id="4" name="Shape 2"/>
          <p:cNvSpPr/>
          <p:nvPr/>
        </p:nvSpPr>
        <p:spPr>
          <a:xfrm>
            <a:off x="548640" y="1417320"/>
            <a:ext cx="3611880" cy="1874520"/>
          </a:xfrm>
          <a:prstGeom prst="roundRect">
            <a:avLst>
              <a:gd name="adj" fmla="val 3902"/>
            </a:avLst>
          </a:prstGeom>
          <a:solidFill>
            <a:srgbClr val="FFFFFF"/>
          </a:solidFill>
          <a:ln w="12700">
            <a:solidFill>
              <a:srgbClr val="E2E8F0"/>
            </a:solidFill>
            <a:prstDash val="solid"/>
          </a:ln>
        </p:spPr>
      </p:sp>
      <p:sp>
        <p:nvSpPr>
          <p:cNvPr id="5" name="Shape 3"/>
          <p:cNvSpPr/>
          <p:nvPr/>
        </p:nvSpPr>
        <p:spPr>
          <a:xfrm>
            <a:off x="777240" y="1645920"/>
            <a:ext cx="502920" cy="502920"/>
          </a:xfrm>
          <a:prstGeom prst="ellipse">
            <a:avLst/>
          </a:prstGeom>
          <a:solidFill>
            <a:srgbClr val="1F6F8B"/>
          </a:solidFill>
          <a:ln/>
        </p:spPr>
      </p:sp>
      <p:pic>
        <p:nvPicPr>
          <p:cNvPr id="6" name="Image 0" descr="C:\Users\KAVINESH\AppData\Local\Temp\claude\d--Chrona\07066fe5-9470-4a71-9fac-1c2f673f42c6\scratchpad\deck\icons\network.png">    </p:cNvPr>
          <p:cNvPicPr>
            <a:picLocks noChangeAspect="1"/>
          </p:cNvPicPr>
          <p:nvPr/>
        </p:nvPicPr>
        <p:blipFill>
          <a:blip r:embed="rId1"/>
          <a:stretch>
            <a:fillRect/>
          </a:stretch>
        </p:blipFill>
        <p:spPr>
          <a:xfrm>
            <a:off x="890397" y="1759077"/>
            <a:ext cx="276606" cy="276606"/>
          </a:xfrm>
          <a:prstGeom prst="rect">
            <a:avLst/>
          </a:prstGeom>
        </p:spPr>
      </p:pic>
      <p:sp>
        <p:nvSpPr>
          <p:cNvPr id="7" name="Text 4"/>
          <p:cNvSpPr/>
          <p:nvPr/>
        </p:nvSpPr>
        <p:spPr>
          <a:xfrm>
            <a:off x="777240" y="2258568"/>
            <a:ext cx="3154680" cy="365760"/>
          </a:xfrm>
          <a:prstGeom prst="rect">
            <a:avLst/>
          </a:prstGeom>
          <a:noFill/>
          <a:ln/>
        </p:spPr>
        <p:txBody>
          <a:bodyPr wrap="square"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Graph Construction</a:t>
            </a:r>
            <a:endParaRPr lang="en-US" sz="1350" dirty="0"/>
          </a:p>
        </p:txBody>
      </p:sp>
      <p:sp>
        <p:nvSpPr>
          <p:cNvPr id="8" name="Text 5"/>
          <p:cNvSpPr/>
          <p:nvPr/>
        </p:nvSpPr>
        <p:spPr>
          <a:xfrm>
            <a:off x="777240" y="2606040"/>
            <a:ext cx="3154680" cy="64008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HIN → homogeneous message graph makes implicit relationships explicit and computable.</a:t>
            </a:r>
            <a:endParaRPr lang="en-US" sz="1050" dirty="0"/>
          </a:p>
        </p:txBody>
      </p:sp>
      <p:sp>
        <p:nvSpPr>
          <p:cNvPr id="9" name="Shape 6"/>
          <p:cNvSpPr/>
          <p:nvPr/>
        </p:nvSpPr>
        <p:spPr>
          <a:xfrm>
            <a:off x="4343400" y="1417320"/>
            <a:ext cx="3611880" cy="1874520"/>
          </a:xfrm>
          <a:prstGeom prst="roundRect">
            <a:avLst>
              <a:gd name="adj" fmla="val 3902"/>
            </a:avLst>
          </a:prstGeom>
          <a:solidFill>
            <a:srgbClr val="FFFFFF"/>
          </a:solidFill>
          <a:ln w="12700">
            <a:solidFill>
              <a:srgbClr val="E2E8F0"/>
            </a:solidFill>
            <a:prstDash val="solid"/>
          </a:ln>
        </p:spPr>
      </p:sp>
      <p:sp>
        <p:nvSpPr>
          <p:cNvPr id="10" name="Shape 7"/>
          <p:cNvSpPr/>
          <p:nvPr/>
        </p:nvSpPr>
        <p:spPr>
          <a:xfrm>
            <a:off x="4572000" y="1645920"/>
            <a:ext cx="502920" cy="502920"/>
          </a:xfrm>
          <a:prstGeom prst="ellipse">
            <a:avLst/>
          </a:prstGeom>
          <a:solidFill>
            <a:srgbClr val="1F6F8B"/>
          </a:solidFill>
          <a:ln/>
        </p:spPr>
      </p:sp>
      <p:pic>
        <p:nvPicPr>
          <p:cNvPr id="11" name="Image 1" descr="C:\Users\KAVINESH\AppData\Local\Temp\claude\d--Chrona\07066fe5-9470-4a71-9fac-1c2f673f42c6\scratchpad\deck\icons\crosshair.png">    </p:cNvPr>
          <p:cNvPicPr>
            <a:picLocks noChangeAspect="1"/>
          </p:cNvPicPr>
          <p:nvPr/>
        </p:nvPicPr>
        <p:blipFill>
          <a:blip r:embed="rId2"/>
          <a:stretch>
            <a:fillRect/>
          </a:stretch>
        </p:blipFill>
        <p:spPr>
          <a:xfrm>
            <a:off x="4685157" y="1759077"/>
            <a:ext cx="276606" cy="276606"/>
          </a:xfrm>
          <a:prstGeom prst="rect">
            <a:avLst/>
          </a:prstGeom>
        </p:spPr>
      </p:pic>
      <p:sp>
        <p:nvSpPr>
          <p:cNvPr id="12" name="Text 8"/>
          <p:cNvSpPr/>
          <p:nvPr/>
        </p:nvSpPr>
        <p:spPr>
          <a:xfrm>
            <a:off x="4572000" y="2258568"/>
            <a:ext cx="3154680" cy="365760"/>
          </a:xfrm>
          <a:prstGeom prst="rect">
            <a:avLst/>
          </a:prstGeom>
          <a:noFill/>
          <a:ln/>
        </p:spPr>
        <p:txBody>
          <a:bodyPr wrap="square"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Centrality Filtering</a:t>
            </a:r>
            <a:endParaRPr lang="en-US" sz="1350" dirty="0"/>
          </a:p>
        </p:txBody>
      </p:sp>
      <p:sp>
        <p:nvSpPr>
          <p:cNvPr id="13" name="Text 9"/>
          <p:cNvSpPr/>
          <p:nvPr/>
        </p:nvSpPr>
        <p:spPr>
          <a:xfrm>
            <a:off x="4572000" y="2606040"/>
            <a:ext cx="3154680" cy="64008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Degree + closeness + betweenness rank structural importance — a purely graph-theoretic noise filter.</a:t>
            </a:r>
            <a:endParaRPr lang="en-US" sz="1050" dirty="0"/>
          </a:p>
        </p:txBody>
      </p:sp>
      <p:sp>
        <p:nvSpPr>
          <p:cNvPr id="14" name="Shape 10"/>
          <p:cNvSpPr/>
          <p:nvPr/>
        </p:nvSpPr>
        <p:spPr>
          <a:xfrm>
            <a:off x="8138160" y="1417320"/>
            <a:ext cx="3611880" cy="1874520"/>
          </a:xfrm>
          <a:prstGeom prst="roundRect">
            <a:avLst>
              <a:gd name="adj" fmla="val 3902"/>
            </a:avLst>
          </a:prstGeom>
          <a:solidFill>
            <a:srgbClr val="FFFFFF"/>
          </a:solidFill>
          <a:ln w="12700">
            <a:solidFill>
              <a:srgbClr val="E2E8F0"/>
            </a:solidFill>
            <a:prstDash val="solid"/>
          </a:ln>
        </p:spPr>
      </p:sp>
      <p:sp>
        <p:nvSpPr>
          <p:cNvPr id="15" name="Shape 11"/>
          <p:cNvSpPr/>
          <p:nvPr/>
        </p:nvSpPr>
        <p:spPr>
          <a:xfrm>
            <a:off x="8366760" y="1645920"/>
            <a:ext cx="502920" cy="502920"/>
          </a:xfrm>
          <a:prstGeom prst="ellipse">
            <a:avLst/>
          </a:prstGeom>
          <a:solidFill>
            <a:srgbClr val="1F6F8B"/>
          </a:solidFill>
          <a:ln/>
        </p:spPr>
      </p:sp>
      <p:pic>
        <p:nvPicPr>
          <p:cNvPr id="16" name="Image 2" descr="C:\Users\KAVINESH\AppData\Local\Temp\claude\d--Chrona\07066fe5-9470-4a71-9fac-1c2f673f42c6\scratchpad\deck\icons\brain.png">    </p:cNvPr>
          <p:cNvPicPr>
            <a:picLocks noChangeAspect="1"/>
          </p:cNvPicPr>
          <p:nvPr/>
        </p:nvPicPr>
        <p:blipFill>
          <a:blip r:embed="rId3"/>
          <a:stretch>
            <a:fillRect/>
          </a:stretch>
        </p:blipFill>
        <p:spPr>
          <a:xfrm>
            <a:off x="8479917" y="1759077"/>
            <a:ext cx="276606" cy="276606"/>
          </a:xfrm>
          <a:prstGeom prst="rect">
            <a:avLst/>
          </a:prstGeom>
        </p:spPr>
      </p:pic>
      <p:sp>
        <p:nvSpPr>
          <p:cNvPr id="17" name="Text 12"/>
          <p:cNvSpPr/>
          <p:nvPr/>
        </p:nvSpPr>
        <p:spPr>
          <a:xfrm>
            <a:off x="8366760" y="2258568"/>
            <a:ext cx="3154680" cy="365760"/>
          </a:xfrm>
          <a:prstGeom prst="rect">
            <a:avLst/>
          </a:prstGeom>
          <a:noFill/>
          <a:ln/>
        </p:spPr>
        <p:txBody>
          <a:bodyPr wrap="square"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Attention-Weighted GNN</a:t>
            </a:r>
            <a:endParaRPr lang="en-US" sz="1350" dirty="0"/>
          </a:p>
        </p:txBody>
      </p:sp>
      <p:sp>
        <p:nvSpPr>
          <p:cNvPr id="18" name="Text 13"/>
          <p:cNvSpPr/>
          <p:nvPr/>
        </p:nvSpPr>
        <p:spPr>
          <a:xfrm>
            <a:off x="8366760" y="2606040"/>
            <a:ext cx="3154680" cy="64008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2-layer GAT (4 heads) learns per-neighbor edge weights instead of fixing them by hand.</a:t>
            </a:r>
            <a:endParaRPr lang="en-US" sz="1050" dirty="0"/>
          </a:p>
        </p:txBody>
      </p:sp>
      <p:sp>
        <p:nvSpPr>
          <p:cNvPr id="19" name="Shape 14"/>
          <p:cNvSpPr/>
          <p:nvPr/>
        </p:nvSpPr>
        <p:spPr>
          <a:xfrm>
            <a:off x="548640" y="3474720"/>
            <a:ext cx="3611880" cy="1874520"/>
          </a:xfrm>
          <a:prstGeom prst="roundRect">
            <a:avLst>
              <a:gd name="adj" fmla="val 3902"/>
            </a:avLst>
          </a:prstGeom>
          <a:solidFill>
            <a:srgbClr val="FFFFFF"/>
          </a:solidFill>
          <a:ln w="12700">
            <a:solidFill>
              <a:srgbClr val="E2E8F0"/>
            </a:solidFill>
            <a:prstDash val="solid"/>
          </a:ln>
        </p:spPr>
      </p:sp>
      <p:sp>
        <p:nvSpPr>
          <p:cNvPr id="20" name="Shape 15"/>
          <p:cNvSpPr/>
          <p:nvPr/>
        </p:nvSpPr>
        <p:spPr>
          <a:xfrm>
            <a:off x="777240" y="3703320"/>
            <a:ext cx="502920" cy="502920"/>
          </a:xfrm>
          <a:prstGeom prst="ellipse">
            <a:avLst/>
          </a:prstGeom>
          <a:solidFill>
            <a:srgbClr val="1F6F8B"/>
          </a:solidFill>
          <a:ln/>
        </p:spPr>
      </p:sp>
      <p:pic>
        <p:nvPicPr>
          <p:cNvPr id="21" name="Image 3" descr="C:\Users\KAVINESH\AppData\Local\Temp\claude\d--Chrona\07066fe5-9470-4a71-9fac-1c2f673f42c6\scratchpad\deck\icons\users.png">    </p:cNvPr>
          <p:cNvPicPr>
            <a:picLocks noChangeAspect="1"/>
          </p:cNvPicPr>
          <p:nvPr/>
        </p:nvPicPr>
        <p:blipFill>
          <a:blip r:embed="rId4"/>
          <a:stretch>
            <a:fillRect/>
          </a:stretch>
        </p:blipFill>
        <p:spPr>
          <a:xfrm>
            <a:off x="890397" y="3816477"/>
            <a:ext cx="276606" cy="276606"/>
          </a:xfrm>
          <a:prstGeom prst="rect">
            <a:avLst/>
          </a:prstGeom>
        </p:spPr>
      </p:pic>
      <p:sp>
        <p:nvSpPr>
          <p:cNvPr id="22" name="Text 16"/>
          <p:cNvSpPr/>
          <p:nvPr/>
        </p:nvSpPr>
        <p:spPr>
          <a:xfrm>
            <a:off x="777240" y="4315968"/>
            <a:ext cx="3154680" cy="365760"/>
          </a:xfrm>
          <a:prstGeom prst="rect">
            <a:avLst/>
          </a:prstGeom>
          <a:noFill/>
          <a:ln/>
        </p:spPr>
        <p:txBody>
          <a:bodyPr wrap="square"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Community Detection</a:t>
            </a:r>
            <a:endParaRPr lang="en-US" sz="1350" dirty="0"/>
          </a:p>
        </p:txBody>
      </p:sp>
      <p:sp>
        <p:nvSpPr>
          <p:cNvPr id="23" name="Text 17"/>
          <p:cNvSpPr/>
          <p:nvPr/>
        </p:nvSpPr>
        <p:spPr>
          <a:xfrm>
            <a:off x="777240" y="4663440"/>
            <a:ext cx="3154680" cy="64008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DBSCAN / K-Means recover events as communities — no predefined class count needed.</a:t>
            </a:r>
            <a:endParaRPr lang="en-US" sz="1050" dirty="0"/>
          </a:p>
        </p:txBody>
      </p:sp>
      <p:sp>
        <p:nvSpPr>
          <p:cNvPr id="24" name="Shape 18"/>
          <p:cNvSpPr/>
          <p:nvPr/>
        </p:nvSpPr>
        <p:spPr>
          <a:xfrm>
            <a:off x="4343400" y="3474720"/>
            <a:ext cx="3611880" cy="1874520"/>
          </a:xfrm>
          <a:prstGeom prst="roundRect">
            <a:avLst>
              <a:gd name="adj" fmla="val 3902"/>
            </a:avLst>
          </a:prstGeom>
          <a:solidFill>
            <a:srgbClr val="FFFFFF"/>
          </a:solidFill>
          <a:ln w="12700">
            <a:solidFill>
              <a:srgbClr val="E2E8F0"/>
            </a:solidFill>
            <a:prstDash val="solid"/>
          </a:ln>
        </p:spPr>
      </p:sp>
      <p:sp>
        <p:nvSpPr>
          <p:cNvPr id="25" name="Shape 19"/>
          <p:cNvSpPr/>
          <p:nvPr/>
        </p:nvSpPr>
        <p:spPr>
          <a:xfrm>
            <a:off x="4572000" y="3703320"/>
            <a:ext cx="502920" cy="502920"/>
          </a:xfrm>
          <a:prstGeom prst="ellipse">
            <a:avLst/>
          </a:prstGeom>
          <a:solidFill>
            <a:srgbClr val="1F6F8B"/>
          </a:solidFill>
          <a:ln/>
        </p:spPr>
      </p:sp>
      <p:pic>
        <p:nvPicPr>
          <p:cNvPr id="26" name="Image 4" descr="C:\Users\KAVINESH\AppData\Local\Temp\claude\d--Chrona\07066fe5-9470-4a71-9fac-1c2f673f42c6\scratchpad\deck\icons\link.png">    </p:cNvPr>
          <p:cNvPicPr>
            <a:picLocks noChangeAspect="1"/>
          </p:cNvPicPr>
          <p:nvPr/>
        </p:nvPicPr>
        <p:blipFill>
          <a:blip r:embed="rId5"/>
          <a:stretch>
            <a:fillRect/>
          </a:stretch>
        </p:blipFill>
        <p:spPr>
          <a:xfrm>
            <a:off x="4685157" y="3816477"/>
            <a:ext cx="276606" cy="276606"/>
          </a:xfrm>
          <a:prstGeom prst="rect">
            <a:avLst/>
          </a:prstGeom>
        </p:spPr>
      </p:pic>
      <p:sp>
        <p:nvSpPr>
          <p:cNvPr id="27" name="Text 20"/>
          <p:cNvSpPr/>
          <p:nvPr/>
        </p:nvSpPr>
        <p:spPr>
          <a:xfrm>
            <a:off x="4572000" y="4315968"/>
            <a:ext cx="3154680" cy="365760"/>
          </a:xfrm>
          <a:prstGeom prst="rect">
            <a:avLst/>
          </a:prstGeom>
          <a:noFill/>
          <a:ln/>
        </p:spPr>
        <p:txBody>
          <a:bodyPr wrap="square"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Contrastive Learning</a:t>
            </a:r>
            <a:endParaRPr lang="en-US" sz="1350" dirty="0"/>
          </a:p>
        </p:txBody>
      </p:sp>
      <p:sp>
        <p:nvSpPr>
          <p:cNvPr id="28" name="Text 21"/>
          <p:cNvSpPr/>
          <p:nvPr/>
        </p:nvSpPr>
        <p:spPr>
          <a:xfrm>
            <a:off x="4572000" y="4663440"/>
            <a:ext cx="3154680" cy="64008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Triplet + global-local loss shapes embeddings so communities are separable at scale.</a:t>
            </a:r>
            <a:endParaRPr lang="en-US" sz="1050" dirty="0"/>
          </a:p>
        </p:txBody>
      </p:sp>
      <p:sp>
        <p:nvSpPr>
          <p:cNvPr id="29" name="Shape 22"/>
          <p:cNvSpPr/>
          <p:nvPr/>
        </p:nvSpPr>
        <p:spPr>
          <a:xfrm>
            <a:off x="8138160" y="3474720"/>
            <a:ext cx="3611880" cy="1874520"/>
          </a:xfrm>
          <a:prstGeom prst="roundRect">
            <a:avLst>
              <a:gd name="adj" fmla="val 3902"/>
            </a:avLst>
          </a:prstGeom>
          <a:solidFill>
            <a:srgbClr val="FFFFFF"/>
          </a:solidFill>
          <a:ln w="12700">
            <a:solidFill>
              <a:srgbClr val="E2E8F0"/>
            </a:solidFill>
            <a:prstDash val="solid"/>
          </a:ln>
        </p:spPr>
      </p:sp>
      <p:sp>
        <p:nvSpPr>
          <p:cNvPr id="30" name="Shape 23"/>
          <p:cNvSpPr/>
          <p:nvPr/>
        </p:nvSpPr>
        <p:spPr>
          <a:xfrm>
            <a:off x="8366760" y="3703320"/>
            <a:ext cx="502920" cy="502920"/>
          </a:xfrm>
          <a:prstGeom prst="ellipse">
            <a:avLst/>
          </a:prstGeom>
          <a:solidFill>
            <a:srgbClr val="1F6F8B"/>
          </a:solidFill>
          <a:ln/>
        </p:spPr>
      </p:sp>
      <p:pic>
        <p:nvPicPr>
          <p:cNvPr id="31" name="Image 5" descr="C:\Users\KAVINESH\AppData\Local\Temp\claude\d--Chrona\07066fe5-9470-4a71-9fac-1c2f673f42c6\scratchpad\deck\icons\sync.png">    </p:cNvPr>
          <p:cNvPicPr>
            <a:picLocks noChangeAspect="1"/>
          </p:cNvPicPr>
          <p:nvPr/>
        </p:nvPicPr>
        <p:blipFill>
          <a:blip r:embed="rId6"/>
          <a:stretch>
            <a:fillRect/>
          </a:stretch>
        </p:blipFill>
        <p:spPr>
          <a:xfrm>
            <a:off x="8479917" y="3816477"/>
            <a:ext cx="276606" cy="276606"/>
          </a:xfrm>
          <a:prstGeom prst="rect">
            <a:avLst/>
          </a:prstGeom>
        </p:spPr>
      </p:pic>
      <p:sp>
        <p:nvSpPr>
          <p:cNvPr id="32" name="Text 24"/>
          <p:cNvSpPr/>
          <p:nvPr/>
        </p:nvSpPr>
        <p:spPr>
          <a:xfrm>
            <a:off x="8366760" y="4315968"/>
            <a:ext cx="3154680" cy="365760"/>
          </a:xfrm>
          <a:prstGeom prst="rect">
            <a:avLst/>
          </a:prstGeom>
          <a:noFill/>
          <a:ln/>
        </p:spPr>
        <p:txBody>
          <a:bodyPr wrap="square"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Incremental Maintenance</a:t>
            </a:r>
            <a:endParaRPr lang="en-US" sz="1350" dirty="0"/>
          </a:p>
        </p:txBody>
      </p:sp>
      <p:sp>
        <p:nvSpPr>
          <p:cNvPr id="33" name="Text 25"/>
          <p:cNvSpPr/>
          <p:nvPr/>
        </p:nvSpPr>
        <p:spPr>
          <a:xfrm>
            <a:off x="8366760" y="4663440"/>
            <a:ext cx="3154680" cy="64008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Pre-train → detect → maintain lifecycle tracks a network that keeps growing.</a:t>
            </a:r>
            <a:endParaRPr lang="en-US" sz="1050" dirty="0"/>
          </a:p>
        </p:txBody>
      </p:sp>
      <p:sp>
        <p:nvSpPr>
          <p:cNvPr id="34" name="Text 26"/>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3. NETWORK MODELING &amp; METHODOLOGY</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Node Filtering: Content vs. Structure</a:t>
            </a:r>
            <a:endParaRPr lang="en-US" sz="3000" dirty="0"/>
          </a:p>
        </p:txBody>
      </p:sp>
      <p:sp>
        <p:nvSpPr>
          <p:cNvPr id="4" name="Text 2"/>
          <p:cNvSpPr/>
          <p:nvPr/>
        </p:nvSpPr>
        <p:spPr>
          <a:xfrm>
            <a:off x="548640" y="1298448"/>
            <a:ext cx="10515600" cy="320040"/>
          </a:xfrm>
          <a:prstGeom prst="rect">
            <a:avLst/>
          </a:prstGeom>
          <a:noFill/>
          <a:ln/>
        </p:spPr>
        <p:txBody>
          <a:bodyPr wrap="square"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Which better predicts that a message matters — what it says, or where it sits in the network?</a:t>
            </a:r>
            <a:endParaRPr lang="en-US" sz="1300" dirty="0"/>
          </a:p>
        </p:txBody>
      </p:sp>
      <p:sp>
        <p:nvSpPr>
          <p:cNvPr id="5" name="Shape 3"/>
          <p:cNvSpPr/>
          <p:nvPr/>
        </p:nvSpPr>
        <p:spPr>
          <a:xfrm>
            <a:off x="548640" y="1828800"/>
            <a:ext cx="5212080" cy="4023360"/>
          </a:xfrm>
          <a:prstGeom prst="roundRect">
            <a:avLst>
              <a:gd name="adj" fmla="val 2273"/>
            </a:avLst>
          </a:prstGeom>
          <a:solidFill>
            <a:srgbClr val="14213D"/>
          </a:solidFill>
          <a:ln/>
        </p:spPr>
      </p:sp>
      <p:sp>
        <p:nvSpPr>
          <p:cNvPr id="6" name="Shape 4"/>
          <p:cNvSpPr/>
          <p:nvPr/>
        </p:nvSpPr>
        <p:spPr>
          <a:xfrm>
            <a:off x="868680" y="2148840"/>
            <a:ext cx="594360" cy="594360"/>
          </a:xfrm>
          <a:prstGeom prst="ellipse">
            <a:avLst/>
          </a:prstGeom>
          <a:solidFill>
            <a:srgbClr val="FF6B4A"/>
          </a:solidFill>
          <a:ln/>
        </p:spPr>
      </p:sp>
      <p:pic>
        <p:nvPicPr>
          <p:cNvPr id="7" name="Image 0" descr="C:\Users\KAVINESH\AppData\Local\Temp\claude\d--Chrona\07066fe5-9470-4a71-9fac-1c2f673f42c6\scratchpad\deck\icons\smile.png">    </p:cNvPr>
          <p:cNvPicPr>
            <a:picLocks noChangeAspect="1"/>
          </p:cNvPicPr>
          <p:nvPr/>
        </p:nvPicPr>
        <p:blipFill>
          <a:blip r:embed="rId1"/>
          <a:stretch>
            <a:fillRect/>
          </a:stretch>
        </p:blipFill>
        <p:spPr>
          <a:xfrm>
            <a:off x="1002411" y="2282571"/>
            <a:ext cx="326898" cy="326898"/>
          </a:xfrm>
          <a:prstGeom prst="rect">
            <a:avLst/>
          </a:prstGeom>
        </p:spPr>
      </p:pic>
      <p:sp>
        <p:nvSpPr>
          <p:cNvPr id="8" name="Text 5"/>
          <p:cNvSpPr/>
          <p:nvPr/>
        </p:nvSpPr>
        <p:spPr>
          <a:xfrm>
            <a:off x="4389120" y="2148840"/>
            <a:ext cx="1097280" cy="320040"/>
          </a:xfrm>
          <a:prstGeom prst="rect">
            <a:avLst/>
          </a:prstGeom>
          <a:noFill/>
          <a:ln/>
        </p:spPr>
        <p:txBody>
          <a:bodyPr wrap="square" rtlCol="0" anchor="ctr"/>
          <a:lstStyle/>
          <a:p>
            <a:pPr algn="r" indent="0" marL="0">
              <a:buNone/>
            </a:pPr>
            <a:r>
              <a:rPr lang="en-US" sz="1000" b="1" dirty="0">
                <a:solidFill>
                  <a:srgbClr val="FF6B4A"/>
                </a:solidFill>
                <a:latin typeface="Calibri" pitchFamily="34" charset="0"/>
                <a:ea typeface="Calibri" pitchFamily="34" charset="-122"/>
                <a:cs typeface="Calibri" pitchFamily="34" charset="-120"/>
              </a:rPr>
              <a:t>DEFAULT</a:t>
            </a:r>
            <a:endParaRPr lang="en-US" sz="1000" dirty="0"/>
          </a:p>
        </p:txBody>
      </p:sp>
      <p:sp>
        <p:nvSpPr>
          <p:cNvPr id="9" name="Text 6"/>
          <p:cNvSpPr/>
          <p:nvPr/>
        </p:nvSpPr>
        <p:spPr>
          <a:xfrm>
            <a:off x="1600200" y="2212848"/>
            <a:ext cx="384048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Sentiment-Based</a:t>
            </a:r>
            <a:endParaRPr lang="en-US" sz="1800" dirty="0"/>
          </a:p>
        </p:txBody>
      </p:sp>
      <p:sp>
        <p:nvSpPr>
          <p:cNvPr id="10" name="Text 7"/>
          <p:cNvSpPr/>
          <p:nvPr/>
        </p:nvSpPr>
        <p:spPr>
          <a:xfrm>
            <a:off x="868680" y="2926080"/>
            <a:ext cx="4572000" cy="100584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DistilBERT scores each message; those with confidence &gt; 50% are kept as genuine event reporting, the rest are treated as noise.</a:t>
            </a:r>
            <a:endParaRPr lang="en-US" sz="1250" dirty="0"/>
          </a:p>
        </p:txBody>
      </p:sp>
      <p:sp>
        <p:nvSpPr>
          <p:cNvPr id="11" name="Text 8"/>
          <p:cNvSpPr/>
          <p:nvPr/>
        </p:nvSpPr>
        <p:spPr>
          <a:xfrm>
            <a:off x="868680" y="4114800"/>
            <a:ext cx="4572000" cy="1463040"/>
          </a:xfrm>
          <a:prstGeom prst="rect">
            <a:avLst/>
          </a:prstGeom>
          <a:noFill/>
          <a:ln/>
        </p:spPr>
        <p:txBody>
          <a:bodyPr wrap="square"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Justification: emotionally/semantically confident messages correlate with real reporting of an unfolding event.</a:t>
            </a:r>
            <a:endParaRPr lang="en-US" sz="1200" dirty="0"/>
          </a:p>
        </p:txBody>
      </p:sp>
      <p:sp>
        <p:nvSpPr>
          <p:cNvPr id="12" name="Shape 9"/>
          <p:cNvSpPr/>
          <p:nvPr/>
        </p:nvSpPr>
        <p:spPr>
          <a:xfrm>
            <a:off x="6035040" y="1828800"/>
            <a:ext cx="5212080" cy="4023360"/>
          </a:xfrm>
          <a:prstGeom prst="roundRect">
            <a:avLst>
              <a:gd name="adj" fmla="val 2273"/>
            </a:avLst>
          </a:prstGeom>
          <a:solidFill>
            <a:srgbClr val="FFFFFF"/>
          </a:solidFill>
          <a:ln w="12700">
            <a:solidFill>
              <a:srgbClr val="E2E8F0"/>
            </a:solidFill>
            <a:prstDash val="solid"/>
          </a:ln>
        </p:spPr>
      </p:sp>
      <p:sp>
        <p:nvSpPr>
          <p:cNvPr id="13" name="Shape 10"/>
          <p:cNvSpPr/>
          <p:nvPr/>
        </p:nvSpPr>
        <p:spPr>
          <a:xfrm>
            <a:off x="6355080" y="2148840"/>
            <a:ext cx="594360" cy="594360"/>
          </a:xfrm>
          <a:prstGeom prst="ellipse">
            <a:avLst/>
          </a:prstGeom>
          <a:solidFill>
            <a:srgbClr val="1F6F8B"/>
          </a:solidFill>
          <a:ln/>
        </p:spPr>
      </p:sp>
      <p:pic>
        <p:nvPicPr>
          <p:cNvPr id="14" name="Image 1" descr="C:\Users\KAVINESH\AppData\Local\Temp\claude\d--Chrona\07066fe5-9470-4a71-9fac-1c2f673f42c6\scratchpad\deck\icons\crosshair.png">    </p:cNvPr>
          <p:cNvPicPr>
            <a:picLocks noChangeAspect="1"/>
          </p:cNvPicPr>
          <p:nvPr/>
        </p:nvPicPr>
        <p:blipFill>
          <a:blip r:embed="rId2"/>
          <a:stretch>
            <a:fillRect/>
          </a:stretch>
        </p:blipFill>
        <p:spPr>
          <a:xfrm>
            <a:off x="6488811" y="2282571"/>
            <a:ext cx="326898" cy="326898"/>
          </a:xfrm>
          <a:prstGeom prst="rect">
            <a:avLst/>
          </a:prstGeom>
        </p:spPr>
      </p:pic>
      <p:sp>
        <p:nvSpPr>
          <p:cNvPr id="15" name="Text 11"/>
          <p:cNvSpPr/>
          <p:nvPr/>
        </p:nvSpPr>
        <p:spPr>
          <a:xfrm>
            <a:off x="9875520" y="2148840"/>
            <a:ext cx="1097280" cy="320040"/>
          </a:xfrm>
          <a:prstGeom prst="rect">
            <a:avLst/>
          </a:prstGeom>
          <a:noFill/>
          <a:ln/>
        </p:spPr>
        <p:txBody>
          <a:bodyPr wrap="square" rtlCol="0" anchor="ctr"/>
          <a:lstStyle/>
          <a:p>
            <a:pPr algn="r" indent="0" marL="0">
              <a:buNone/>
            </a:pPr>
            <a:r>
              <a:rPr lang="en-US" sz="1000" b="1" dirty="0">
                <a:solidFill>
                  <a:srgbClr val="1F6F8B"/>
                </a:solidFill>
                <a:latin typeface="Calibri" pitchFamily="34" charset="0"/>
                <a:ea typeface="Calibri" pitchFamily="34" charset="-122"/>
                <a:cs typeface="Calibri" pitchFamily="34" charset="-120"/>
              </a:rPr>
              <a:t>ALTERNATIVE</a:t>
            </a:r>
            <a:endParaRPr lang="en-US" sz="1000" dirty="0"/>
          </a:p>
        </p:txBody>
      </p:sp>
      <p:sp>
        <p:nvSpPr>
          <p:cNvPr id="16" name="Text 12"/>
          <p:cNvSpPr/>
          <p:nvPr/>
        </p:nvSpPr>
        <p:spPr>
          <a:xfrm>
            <a:off x="7086600" y="2212848"/>
            <a:ext cx="3840480" cy="457200"/>
          </a:xfrm>
          <a:prstGeom prst="rect">
            <a:avLst/>
          </a:prstGeom>
          <a:noFill/>
          <a:ln/>
        </p:spPr>
        <p:txBody>
          <a:bodyPr wrap="square"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Centrality-Based</a:t>
            </a:r>
            <a:endParaRPr lang="en-US" sz="1800" dirty="0"/>
          </a:p>
        </p:txBody>
      </p:sp>
      <p:sp>
        <p:nvSpPr>
          <p:cNvPr id="17" name="Text 13"/>
          <p:cNvSpPr/>
          <p:nvPr/>
        </p:nvSpPr>
        <p:spPr>
          <a:xfrm>
            <a:off x="6355080" y="2926080"/>
            <a:ext cx="4572000" cy="100584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Degree + closeness + betweenness centrality are combined; nodes below the 50th percentile are dropped — no text is read at all.</a:t>
            </a:r>
            <a:endParaRPr lang="en-US" sz="1250" dirty="0"/>
          </a:p>
        </p:txBody>
      </p:sp>
      <p:sp>
        <p:nvSpPr>
          <p:cNvPr id="18" name="Text 14"/>
          <p:cNvSpPr/>
          <p:nvPr/>
        </p:nvSpPr>
        <p:spPr>
          <a:xfrm>
            <a:off x="6355080" y="4114800"/>
            <a:ext cx="4572000" cy="1463040"/>
          </a:xfrm>
          <a:prstGeom prst="rect">
            <a:avLst/>
          </a:prstGeom>
          <a:noFill/>
          <a:ln/>
        </p:spPr>
        <p:txBody>
          <a:bodyPr wrap="square" rtlCol="0" anchor="t"/>
          <a:lstStyle/>
          <a:p>
            <a:pPr indent="0" marL="0">
              <a:buNone/>
            </a:pPr>
            <a:r>
              <a:rPr lang="en-US" sz="1200" i="1" dirty="0">
                <a:solidFill>
                  <a:srgbClr val="4A5568"/>
                </a:solidFill>
                <a:latin typeface="Calibri" pitchFamily="34" charset="0"/>
                <a:ea typeface="Calibri" pitchFamily="34" charset="-122"/>
                <a:cs typeface="Calibri" pitchFamily="34" charset="-120"/>
              </a:rPr>
              <a:t>Justification: the classically-SNA alternative — importance defined purely by network position, for direct comparison against content-based filtering.</a:t>
            </a:r>
            <a:endParaRPr lang="en-US" sz="1200" dirty="0"/>
          </a:p>
        </p:txBody>
      </p:sp>
      <p:sp>
        <p:nvSpPr>
          <p:cNvPr id="19" name="Text 15"/>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3. NETWORK MODELING &amp; METHODOLOGY</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End-to-End Pipeline</a:t>
            </a:r>
            <a:endParaRPr lang="en-US" sz="3000" dirty="0"/>
          </a:p>
        </p:txBody>
      </p:sp>
      <p:pic>
        <p:nvPicPr>
          <p:cNvPr id="4" name="Image 0" descr="D:\Chrona\assets\archi.png">    </p:cNvPr>
          <p:cNvPicPr>
            <a:picLocks noChangeAspect="1"/>
          </p:cNvPicPr>
          <p:nvPr/>
        </p:nvPicPr>
        <p:blipFill>
          <a:blip r:embed="rId1"/>
          <a:stretch>
            <a:fillRect/>
          </a:stretch>
        </p:blipFill>
        <p:spPr>
          <a:xfrm>
            <a:off x="822960" y="1417320"/>
            <a:ext cx="10515600" cy="3374136"/>
          </a:xfrm>
          <a:prstGeom prst="rect">
            <a:avLst/>
          </a:prstGeom>
        </p:spPr>
      </p:pic>
      <p:sp>
        <p:nvSpPr>
          <p:cNvPr id="5" name="Shape 2"/>
          <p:cNvSpPr/>
          <p:nvPr/>
        </p:nvSpPr>
        <p:spPr>
          <a:xfrm>
            <a:off x="822960" y="4983480"/>
            <a:ext cx="1655064" cy="777240"/>
          </a:xfrm>
          <a:prstGeom prst="roundRect">
            <a:avLst>
              <a:gd name="adj" fmla="val 7059"/>
            </a:avLst>
          </a:prstGeom>
          <a:solidFill>
            <a:srgbClr val="F4F6FA"/>
          </a:solidFill>
          <a:ln/>
        </p:spPr>
      </p:sp>
      <p:sp>
        <p:nvSpPr>
          <p:cNvPr id="6" name="Text 3"/>
          <p:cNvSpPr/>
          <p:nvPr/>
        </p:nvSpPr>
        <p:spPr>
          <a:xfrm>
            <a:off x="822960" y="5029200"/>
            <a:ext cx="1655064" cy="228600"/>
          </a:xfrm>
          <a:prstGeom prst="rect">
            <a:avLst/>
          </a:prstGeom>
          <a:noFill/>
          <a:ln/>
        </p:spPr>
        <p:txBody>
          <a:bodyPr wrap="square" rtlCol="0" anchor="ctr"/>
          <a:lstStyle/>
          <a:p>
            <a:pPr algn="ctr" indent="0" marL="0">
              <a:buNone/>
            </a:pPr>
            <a:r>
              <a:rPr lang="en-US" sz="1000" b="1" dirty="0">
                <a:solidFill>
                  <a:srgbClr val="FF6B4A"/>
                </a:solidFill>
                <a:latin typeface="Calibri" pitchFamily="34" charset="0"/>
                <a:ea typeface="Calibri" pitchFamily="34" charset="-122"/>
                <a:cs typeface="Calibri" pitchFamily="34" charset="-120"/>
              </a:rPr>
              <a:t>(a)</a:t>
            </a:r>
            <a:endParaRPr lang="en-US" sz="1000" dirty="0"/>
          </a:p>
        </p:txBody>
      </p:sp>
      <p:sp>
        <p:nvSpPr>
          <p:cNvPr id="7" name="Text 4"/>
          <p:cNvSpPr/>
          <p:nvPr/>
        </p:nvSpPr>
        <p:spPr>
          <a:xfrm>
            <a:off x="868680" y="5239512"/>
            <a:ext cx="1563624" cy="457200"/>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Homogeneous message graph</a:t>
            </a:r>
            <a:endParaRPr lang="en-US" sz="950" dirty="0"/>
          </a:p>
        </p:txBody>
      </p:sp>
      <p:sp>
        <p:nvSpPr>
          <p:cNvPr id="8" name="Shape 5"/>
          <p:cNvSpPr/>
          <p:nvPr/>
        </p:nvSpPr>
        <p:spPr>
          <a:xfrm>
            <a:off x="2587752" y="4983480"/>
            <a:ext cx="1655064" cy="777240"/>
          </a:xfrm>
          <a:prstGeom prst="roundRect">
            <a:avLst>
              <a:gd name="adj" fmla="val 7059"/>
            </a:avLst>
          </a:prstGeom>
          <a:solidFill>
            <a:srgbClr val="F4F6FA"/>
          </a:solidFill>
          <a:ln/>
        </p:spPr>
      </p:sp>
      <p:sp>
        <p:nvSpPr>
          <p:cNvPr id="9" name="Text 6"/>
          <p:cNvSpPr/>
          <p:nvPr/>
        </p:nvSpPr>
        <p:spPr>
          <a:xfrm>
            <a:off x="2587752" y="5029200"/>
            <a:ext cx="1655064" cy="228600"/>
          </a:xfrm>
          <a:prstGeom prst="rect">
            <a:avLst/>
          </a:prstGeom>
          <a:noFill/>
          <a:ln/>
        </p:spPr>
        <p:txBody>
          <a:bodyPr wrap="square" rtlCol="0" anchor="ctr"/>
          <a:lstStyle/>
          <a:p>
            <a:pPr algn="ctr" indent="0" marL="0">
              <a:buNone/>
            </a:pPr>
            <a:r>
              <a:rPr lang="en-US" sz="1000" b="1" dirty="0">
                <a:solidFill>
                  <a:srgbClr val="FF6B4A"/>
                </a:solidFill>
                <a:latin typeface="Calibri" pitchFamily="34" charset="0"/>
                <a:ea typeface="Calibri" pitchFamily="34" charset="-122"/>
                <a:cs typeface="Calibri" pitchFamily="34" charset="-120"/>
              </a:rPr>
              <a:t>(b)</a:t>
            </a:r>
            <a:endParaRPr lang="en-US" sz="1000" dirty="0"/>
          </a:p>
        </p:txBody>
      </p:sp>
      <p:sp>
        <p:nvSpPr>
          <p:cNvPr id="10" name="Text 7"/>
          <p:cNvSpPr/>
          <p:nvPr/>
        </p:nvSpPr>
        <p:spPr>
          <a:xfrm>
            <a:off x="2633472" y="5239512"/>
            <a:ext cx="1563624" cy="457200"/>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DistilBERT node filtering</a:t>
            </a:r>
            <a:endParaRPr lang="en-US" sz="950" dirty="0"/>
          </a:p>
        </p:txBody>
      </p:sp>
      <p:sp>
        <p:nvSpPr>
          <p:cNvPr id="11" name="Shape 8"/>
          <p:cNvSpPr/>
          <p:nvPr/>
        </p:nvSpPr>
        <p:spPr>
          <a:xfrm>
            <a:off x="4352544" y="4983480"/>
            <a:ext cx="1655064" cy="777240"/>
          </a:xfrm>
          <a:prstGeom prst="roundRect">
            <a:avLst>
              <a:gd name="adj" fmla="val 7059"/>
            </a:avLst>
          </a:prstGeom>
          <a:solidFill>
            <a:srgbClr val="F4F6FA"/>
          </a:solidFill>
          <a:ln/>
        </p:spPr>
      </p:sp>
      <p:sp>
        <p:nvSpPr>
          <p:cNvPr id="12" name="Text 9"/>
          <p:cNvSpPr/>
          <p:nvPr/>
        </p:nvSpPr>
        <p:spPr>
          <a:xfrm>
            <a:off x="4352544" y="5029200"/>
            <a:ext cx="1655064" cy="228600"/>
          </a:xfrm>
          <a:prstGeom prst="rect">
            <a:avLst/>
          </a:prstGeom>
          <a:noFill/>
          <a:ln/>
        </p:spPr>
        <p:txBody>
          <a:bodyPr wrap="square" rtlCol="0" anchor="ctr"/>
          <a:lstStyle/>
          <a:p>
            <a:pPr algn="ctr" indent="0" marL="0">
              <a:buNone/>
            </a:pPr>
            <a:r>
              <a:rPr lang="en-US" sz="1000" b="1" dirty="0">
                <a:solidFill>
                  <a:srgbClr val="FF6B4A"/>
                </a:solidFill>
                <a:latin typeface="Calibri" pitchFamily="34" charset="0"/>
                <a:ea typeface="Calibri" pitchFamily="34" charset="-122"/>
                <a:cs typeface="Calibri" pitchFamily="34" charset="-120"/>
              </a:rPr>
              <a:t>(c)</a:t>
            </a:r>
            <a:endParaRPr lang="en-US" sz="1000" dirty="0"/>
          </a:p>
        </p:txBody>
      </p:sp>
      <p:sp>
        <p:nvSpPr>
          <p:cNvPr id="13" name="Text 10"/>
          <p:cNvSpPr/>
          <p:nvPr/>
        </p:nvSpPr>
        <p:spPr>
          <a:xfrm>
            <a:off x="4398264" y="5239512"/>
            <a:ext cx="1563624" cy="457200"/>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Multi-head attention</a:t>
            </a:r>
            <a:endParaRPr lang="en-US" sz="950" dirty="0"/>
          </a:p>
        </p:txBody>
      </p:sp>
      <p:sp>
        <p:nvSpPr>
          <p:cNvPr id="14" name="Shape 11"/>
          <p:cNvSpPr/>
          <p:nvPr/>
        </p:nvSpPr>
        <p:spPr>
          <a:xfrm>
            <a:off x="6117336" y="4983480"/>
            <a:ext cx="1655064" cy="777240"/>
          </a:xfrm>
          <a:prstGeom prst="roundRect">
            <a:avLst>
              <a:gd name="adj" fmla="val 7059"/>
            </a:avLst>
          </a:prstGeom>
          <a:solidFill>
            <a:srgbClr val="F4F6FA"/>
          </a:solidFill>
          <a:ln/>
        </p:spPr>
      </p:sp>
      <p:sp>
        <p:nvSpPr>
          <p:cNvPr id="15" name="Text 12"/>
          <p:cNvSpPr/>
          <p:nvPr/>
        </p:nvSpPr>
        <p:spPr>
          <a:xfrm>
            <a:off x="6117336" y="5029200"/>
            <a:ext cx="1655064" cy="228600"/>
          </a:xfrm>
          <a:prstGeom prst="rect">
            <a:avLst/>
          </a:prstGeom>
          <a:noFill/>
          <a:ln/>
        </p:spPr>
        <p:txBody>
          <a:bodyPr wrap="square" rtlCol="0" anchor="ctr"/>
          <a:lstStyle/>
          <a:p>
            <a:pPr algn="ctr" indent="0" marL="0">
              <a:buNone/>
            </a:pPr>
            <a:r>
              <a:rPr lang="en-US" sz="1000" b="1" dirty="0">
                <a:solidFill>
                  <a:srgbClr val="FF6B4A"/>
                </a:solidFill>
                <a:latin typeface="Calibri" pitchFamily="34" charset="0"/>
                <a:ea typeface="Calibri" pitchFamily="34" charset="-122"/>
                <a:cs typeface="Calibri" pitchFamily="34" charset="-120"/>
              </a:rPr>
              <a:t>(d)</a:t>
            </a:r>
            <a:endParaRPr lang="en-US" sz="1000" dirty="0"/>
          </a:p>
        </p:txBody>
      </p:sp>
      <p:sp>
        <p:nvSpPr>
          <p:cNvPr id="16" name="Text 13"/>
          <p:cNvSpPr/>
          <p:nvPr/>
        </p:nvSpPr>
        <p:spPr>
          <a:xfrm>
            <a:off x="6163056" y="5239512"/>
            <a:ext cx="1563624" cy="457200"/>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Message representations</a:t>
            </a:r>
            <a:endParaRPr lang="en-US" sz="950" dirty="0"/>
          </a:p>
        </p:txBody>
      </p:sp>
      <p:sp>
        <p:nvSpPr>
          <p:cNvPr id="17" name="Shape 14"/>
          <p:cNvSpPr/>
          <p:nvPr/>
        </p:nvSpPr>
        <p:spPr>
          <a:xfrm>
            <a:off x="7882128" y="4983480"/>
            <a:ext cx="1655064" cy="777240"/>
          </a:xfrm>
          <a:prstGeom prst="roundRect">
            <a:avLst>
              <a:gd name="adj" fmla="val 7059"/>
            </a:avLst>
          </a:prstGeom>
          <a:solidFill>
            <a:srgbClr val="F4F6FA"/>
          </a:solidFill>
          <a:ln/>
        </p:spPr>
      </p:sp>
      <p:sp>
        <p:nvSpPr>
          <p:cNvPr id="18" name="Text 15"/>
          <p:cNvSpPr/>
          <p:nvPr/>
        </p:nvSpPr>
        <p:spPr>
          <a:xfrm>
            <a:off x="7882128" y="5029200"/>
            <a:ext cx="1655064" cy="228600"/>
          </a:xfrm>
          <a:prstGeom prst="rect">
            <a:avLst/>
          </a:prstGeom>
          <a:noFill/>
          <a:ln/>
        </p:spPr>
        <p:txBody>
          <a:bodyPr wrap="square" rtlCol="0" anchor="ctr"/>
          <a:lstStyle/>
          <a:p>
            <a:pPr algn="ctr" indent="0" marL="0">
              <a:buNone/>
            </a:pPr>
            <a:r>
              <a:rPr lang="en-US" sz="1000" b="1" dirty="0">
                <a:solidFill>
                  <a:srgbClr val="FF6B4A"/>
                </a:solidFill>
                <a:latin typeface="Calibri" pitchFamily="34" charset="0"/>
                <a:ea typeface="Calibri" pitchFamily="34" charset="-122"/>
                <a:cs typeface="Calibri" pitchFamily="34" charset="-120"/>
              </a:rPr>
              <a:t>(e)</a:t>
            </a:r>
            <a:endParaRPr lang="en-US" sz="1000" dirty="0"/>
          </a:p>
        </p:txBody>
      </p:sp>
      <p:sp>
        <p:nvSpPr>
          <p:cNvPr id="19" name="Text 16"/>
          <p:cNvSpPr/>
          <p:nvPr/>
        </p:nvSpPr>
        <p:spPr>
          <a:xfrm>
            <a:off x="7927848" y="5239512"/>
            <a:ext cx="1563624" cy="457200"/>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Contrastive learning (Lt + Lp)</a:t>
            </a:r>
            <a:endParaRPr lang="en-US" sz="950" dirty="0"/>
          </a:p>
        </p:txBody>
      </p:sp>
      <p:sp>
        <p:nvSpPr>
          <p:cNvPr id="20" name="Shape 17"/>
          <p:cNvSpPr/>
          <p:nvPr/>
        </p:nvSpPr>
        <p:spPr>
          <a:xfrm>
            <a:off x="9646920" y="4983480"/>
            <a:ext cx="1655064" cy="777240"/>
          </a:xfrm>
          <a:prstGeom prst="roundRect">
            <a:avLst>
              <a:gd name="adj" fmla="val 7059"/>
            </a:avLst>
          </a:prstGeom>
          <a:solidFill>
            <a:srgbClr val="F4F6FA"/>
          </a:solidFill>
          <a:ln/>
        </p:spPr>
      </p:sp>
      <p:sp>
        <p:nvSpPr>
          <p:cNvPr id="21" name="Text 18"/>
          <p:cNvSpPr/>
          <p:nvPr/>
        </p:nvSpPr>
        <p:spPr>
          <a:xfrm>
            <a:off x="9646920" y="5029200"/>
            <a:ext cx="1655064" cy="228600"/>
          </a:xfrm>
          <a:prstGeom prst="rect">
            <a:avLst/>
          </a:prstGeom>
          <a:noFill/>
          <a:ln/>
        </p:spPr>
        <p:txBody>
          <a:bodyPr wrap="square" rtlCol="0" anchor="ctr"/>
          <a:lstStyle/>
          <a:p>
            <a:pPr algn="ctr" indent="0" marL="0">
              <a:buNone/>
            </a:pPr>
            <a:r>
              <a:rPr lang="en-US" sz="1000" b="1" dirty="0">
                <a:solidFill>
                  <a:srgbClr val="FF6B4A"/>
                </a:solidFill>
                <a:latin typeface="Calibri" pitchFamily="34" charset="0"/>
                <a:ea typeface="Calibri" pitchFamily="34" charset="-122"/>
                <a:cs typeface="Calibri" pitchFamily="34" charset="-120"/>
              </a:rPr>
              <a:t>(f)</a:t>
            </a:r>
            <a:endParaRPr lang="en-US" sz="1000" dirty="0"/>
          </a:p>
        </p:txBody>
      </p:sp>
      <p:sp>
        <p:nvSpPr>
          <p:cNvPr id="22" name="Text 19"/>
          <p:cNvSpPr/>
          <p:nvPr/>
        </p:nvSpPr>
        <p:spPr>
          <a:xfrm>
            <a:off x="9692640" y="5239512"/>
            <a:ext cx="1563624" cy="457200"/>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Social event clustering</a:t>
            </a:r>
            <a:endParaRPr lang="en-US" sz="950" dirty="0"/>
          </a:p>
        </p:txBody>
      </p:sp>
      <p:sp>
        <p:nvSpPr>
          <p:cNvPr id="23" name="Text 20"/>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4. ANALYSIS &amp; INTERPRETATION</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Offline Evaluation: Graph Methods Win</a:t>
            </a:r>
            <a:endParaRPr lang="en-US" sz="3000" dirty="0"/>
          </a:p>
        </p:txBody>
      </p:sp>
      <p:graphicFrame>
        <p:nvGraphicFramePr>
          <p:cNvPr id="4" name="Chart 0" descr=""/>
          <p:cNvGraphicFramePr/>
          <p:nvPr/>
        </p:nvGraphicFramePr>
        <p:xfrm>
          <a:off x="457200" y="1371600"/>
          <a:ext cx="112471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5532120"/>
            <a:ext cx="11247120" cy="868680"/>
          </a:xfrm>
          <a:prstGeom prst="roundRect">
            <a:avLst>
              <a:gd name="adj" fmla="val 8421"/>
            </a:avLst>
          </a:prstGeom>
          <a:solidFill>
            <a:srgbClr val="14213D"/>
          </a:solidFill>
          <a:ln/>
        </p:spPr>
      </p:sp>
      <p:sp>
        <p:nvSpPr>
          <p:cNvPr id="6" name="Text 3"/>
          <p:cNvSpPr/>
          <p:nvPr/>
        </p:nvSpPr>
        <p:spPr>
          <a:xfrm>
            <a:off x="685800" y="5605272"/>
            <a:ext cx="10789920" cy="7315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Reading the chart: the three graph-based methods on the right (KPGNN, QSGNN, DistilBERT-GNN) beat every text-only method on AMI and ARI — evidence that network structure carries information about event membership that text alone does not.</a:t>
            </a:r>
            <a:endParaRPr lang="en-US" sz="1150" dirty="0"/>
          </a:p>
        </p:txBody>
      </p:sp>
      <p:sp>
        <p:nvSpPr>
          <p:cNvPr id="7" name="Text 4"/>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4. ANALYSIS &amp; INTERPRETATION</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How Much Network History Should Survive?</a:t>
            </a:r>
            <a:endParaRPr lang="en-US" sz="3000" dirty="0"/>
          </a:p>
        </p:txBody>
      </p:sp>
      <p:sp>
        <p:nvSpPr>
          <p:cNvPr id="4" name="Shape 2"/>
          <p:cNvSpPr/>
          <p:nvPr/>
        </p:nvSpPr>
        <p:spPr>
          <a:xfrm>
            <a:off x="548640" y="1463040"/>
            <a:ext cx="3611880" cy="2834640"/>
          </a:xfrm>
          <a:prstGeom prst="roundRect">
            <a:avLst>
              <a:gd name="adj" fmla="val 3226"/>
            </a:avLst>
          </a:prstGeom>
          <a:solidFill>
            <a:srgbClr val="FFFFFF"/>
          </a:solidFill>
          <a:ln w="12700">
            <a:solidFill>
              <a:srgbClr val="E2E8F0"/>
            </a:solidFill>
            <a:prstDash val="solid"/>
          </a:ln>
        </p:spPr>
      </p:sp>
      <p:sp>
        <p:nvSpPr>
          <p:cNvPr id="5" name="Shape 3"/>
          <p:cNvSpPr/>
          <p:nvPr/>
        </p:nvSpPr>
        <p:spPr>
          <a:xfrm>
            <a:off x="777240" y="1691640"/>
            <a:ext cx="548640" cy="548640"/>
          </a:xfrm>
          <a:prstGeom prst="ellipse">
            <a:avLst/>
          </a:prstGeom>
          <a:solidFill>
            <a:srgbClr val="E2E8F0"/>
          </a:solidFill>
          <a:ln/>
        </p:spPr>
      </p:sp>
      <p:sp>
        <p:nvSpPr>
          <p:cNvPr id="6" name="Text 4"/>
          <p:cNvSpPr/>
          <p:nvPr/>
        </p:nvSpPr>
        <p:spPr>
          <a:xfrm>
            <a:off x="777240" y="1691640"/>
            <a:ext cx="548640" cy="548640"/>
          </a:xfrm>
          <a:prstGeom prst="rect">
            <a:avLst/>
          </a:prstGeom>
          <a:noFill/>
          <a:ln/>
        </p:spPr>
        <p:txBody>
          <a:bodyPr wrap="square" rtlCol="0" anchor="ctr"/>
          <a:lstStyle/>
          <a:p>
            <a:pPr algn="ctr" indent="0" marL="0">
              <a:buNone/>
            </a:pPr>
            <a:r>
              <a:rPr lang="en-US" sz="2000" b="1" dirty="0">
                <a:solidFill>
                  <a:srgbClr val="4A5568"/>
                </a:solidFill>
                <a:latin typeface="Cambria" pitchFamily="34" charset="0"/>
                <a:ea typeface="Cambria" pitchFamily="34" charset="-122"/>
                <a:cs typeface="Cambria" pitchFamily="34" charset="-120"/>
              </a:rPr>
              <a:t>3</a:t>
            </a:r>
            <a:endParaRPr lang="en-US" sz="2000" dirty="0"/>
          </a:p>
        </p:txBody>
      </p:sp>
      <p:sp>
        <p:nvSpPr>
          <p:cNvPr id="7" name="Text 5"/>
          <p:cNvSpPr/>
          <p:nvPr/>
        </p:nvSpPr>
        <p:spPr>
          <a:xfrm>
            <a:off x="777240" y="2377440"/>
            <a:ext cx="3154680" cy="36576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Keep All</a:t>
            </a:r>
            <a:endParaRPr lang="en-US" sz="1600" dirty="0"/>
          </a:p>
        </p:txBody>
      </p:sp>
      <p:sp>
        <p:nvSpPr>
          <p:cNvPr id="8" name="Text 6"/>
          <p:cNvSpPr/>
          <p:nvPr/>
        </p:nvSpPr>
        <p:spPr>
          <a:xfrm>
            <a:off x="777240" y="2761488"/>
            <a:ext cx="3154680" cy="64008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Never prune old nodes</a:t>
            </a:r>
            <a:endParaRPr lang="en-US" sz="1100" dirty="0"/>
          </a:p>
        </p:txBody>
      </p:sp>
      <p:sp>
        <p:nvSpPr>
          <p:cNvPr id="9" name="Text 7"/>
          <p:cNvSpPr/>
          <p:nvPr/>
        </p:nvSpPr>
        <p:spPr>
          <a:xfrm>
            <a:off x="777240" y="3520440"/>
            <a:ext cx="3154680" cy="640080"/>
          </a:xfrm>
          <a:prstGeom prst="rect">
            <a:avLst/>
          </a:prstGeom>
          <a:noFill/>
          <a:ln/>
        </p:spPr>
        <p:txBody>
          <a:bodyPr wrap="square" rtlCol="0" anchor="t"/>
          <a:lstStyle/>
          <a:p>
            <a:pPr indent="0" marL="0">
              <a:buNone/>
            </a:pPr>
            <a:r>
              <a:rPr lang="en-US" sz="1150" b="1" i="1" dirty="0">
                <a:solidFill>
                  <a:srgbClr val="1F6F8B"/>
                </a:solidFill>
                <a:latin typeface="Calibri" pitchFamily="34" charset="0"/>
                <a:ea typeface="Calibri" pitchFamily="34" charset="-122"/>
                <a:cs typeface="Calibri" pitchFamily="34" charset="-120"/>
              </a:rPr>
              <a:t>Worst performance — highest memory cost</a:t>
            </a:r>
            <a:endParaRPr lang="en-US" sz="1150" dirty="0"/>
          </a:p>
        </p:txBody>
      </p:sp>
      <p:sp>
        <p:nvSpPr>
          <p:cNvPr id="10" name="Shape 8"/>
          <p:cNvSpPr/>
          <p:nvPr/>
        </p:nvSpPr>
        <p:spPr>
          <a:xfrm>
            <a:off x="4343400" y="1463040"/>
            <a:ext cx="3611880" cy="2834640"/>
          </a:xfrm>
          <a:prstGeom prst="roundRect">
            <a:avLst>
              <a:gd name="adj" fmla="val 3226"/>
            </a:avLst>
          </a:prstGeom>
          <a:solidFill>
            <a:srgbClr val="FFFFFF"/>
          </a:solidFill>
          <a:ln w="12700">
            <a:solidFill>
              <a:srgbClr val="E2E8F0"/>
            </a:solidFill>
            <a:prstDash val="solid"/>
          </a:ln>
        </p:spPr>
      </p:sp>
      <p:sp>
        <p:nvSpPr>
          <p:cNvPr id="11" name="Shape 9"/>
          <p:cNvSpPr/>
          <p:nvPr/>
        </p:nvSpPr>
        <p:spPr>
          <a:xfrm>
            <a:off x="4572000" y="1691640"/>
            <a:ext cx="548640" cy="548640"/>
          </a:xfrm>
          <a:prstGeom prst="ellipse">
            <a:avLst/>
          </a:prstGeom>
          <a:solidFill>
            <a:srgbClr val="CADCFC"/>
          </a:solidFill>
          <a:ln/>
        </p:spPr>
      </p:sp>
      <p:sp>
        <p:nvSpPr>
          <p:cNvPr id="12" name="Text 10"/>
          <p:cNvSpPr/>
          <p:nvPr/>
        </p:nvSpPr>
        <p:spPr>
          <a:xfrm>
            <a:off x="4572000" y="1691640"/>
            <a:ext cx="548640" cy="548640"/>
          </a:xfrm>
          <a:prstGeom prst="rect">
            <a:avLst/>
          </a:prstGeom>
          <a:noFill/>
          <a:ln/>
        </p:spPr>
        <p:txBody>
          <a:bodyPr wrap="square"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572000" y="2377440"/>
            <a:ext cx="3154680" cy="36576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Keep Relevant</a:t>
            </a:r>
            <a:endParaRPr lang="en-US" sz="1600" dirty="0"/>
          </a:p>
        </p:txBody>
      </p:sp>
      <p:sp>
        <p:nvSpPr>
          <p:cNvPr id="14" name="Text 12"/>
          <p:cNvSpPr/>
          <p:nvPr/>
        </p:nvSpPr>
        <p:spPr>
          <a:xfrm>
            <a:off x="4572000" y="2761488"/>
            <a:ext cx="3154680" cy="64008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Prune nodes disconnected from recent arrivals</a:t>
            </a:r>
            <a:endParaRPr lang="en-US" sz="1100" dirty="0"/>
          </a:p>
        </p:txBody>
      </p:sp>
      <p:sp>
        <p:nvSpPr>
          <p:cNvPr id="15" name="Text 13"/>
          <p:cNvSpPr/>
          <p:nvPr/>
        </p:nvSpPr>
        <p:spPr>
          <a:xfrm>
            <a:off x="4572000" y="3520440"/>
            <a:ext cx="3154680" cy="640080"/>
          </a:xfrm>
          <a:prstGeom prst="rect">
            <a:avLst/>
          </a:prstGeom>
          <a:noFill/>
          <a:ln/>
        </p:spPr>
        <p:txBody>
          <a:bodyPr wrap="square" rtlCol="0" anchor="t"/>
          <a:lstStyle/>
          <a:p>
            <a:pPr indent="0" marL="0">
              <a:buNone/>
            </a:pPr>
            <a:r>
              <a:rPr lang="en-US" sz="1150" b="1" i="1" dirty="0">
                <a:solidFill>
                  <a:srgbClr val="1F6F8B"/>
                </a:solidFill>
                <a:latin typeface="Calibri" pitchFamily="34" charset="0"/>
                <a:ea typeface="Calibri" pitchFamily="34" charset="-122"/>
                <a:cs typeface="Calibri" pitchFamily="34" charset="-120"/>
              </a:rPr>
              <a:t>Moderate performance</a:t>
            </a:r>
            <a:endParaRPr lang="en-US" sz="1150" dirty="0"/>
          </a:p>
        </p:txBody>
      </p:sp>
      <p:sp>
        <p:nvSpPr>
          <p:cNvPr id="16" name="Shape 14"/>
          <p:cNvSpPr/>
          <p:nvPr/>
        </p:nvSpPr>
        <p:spPr>
          <a:xfrm>
            <a:off x="8138160" y="1463040"/>
            <a:ext cx="3611880" cy="2834640"/>
          </a:xfrm>
          <a:prstGeom prst="roundRect">
            <a:avLst>
              <a:gd name="adj" fmla="val 3226"/>
            </a:avLst>
          </a:prstGeom>
          <a:solidFill>
            <a:srgbClr val="14213D"/>
          </a:solidFill>
          <a:ln/>
        </p:spPr>
      </p:sp>
      <p:sp>
        <p:nvSpPr>
          <p:cNvPr id="17" name="Shape 15"/>
          <p:cNvSpPr/>
          <p:nvPr/>
        </p:nvSpPr>
        <p:spPr>
          <a:xfrm>
            <a:off x="8366760" y="1691640"/>
            <a:ext cx="548640" cy="548640"/>
          </a:xfrm>
          <a:prstGeom prst="ellipse">
            <a:avLst/>
          </a:prstGeom>
          <a:solidFill>
            <a:srgbClr val="FF6B4A"/>
          </a:solidFill>
          <a:ln/>
        </p:spPr>
      </p:sp>
      <p:sp>
        <p:nvSpPr>
          <p:cNvPr id="18" name="Text 16"/>
          <p:cNvSpPr/>
          <p:nvPr/>
        </p:nvSpPr>
        <p:spPr>
          <a:xfrm>
            <a:off x="8366760" y="16916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9" name="Text 17"/>
          <p:cNvSpPr/>
          <p:nvPr/>
        </p:nvSpPr>
        <p:spPr>
          <a:xfrm>
            <a:off x="8366760" y="2377440"/>
            <a:ext cx="315468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Keep Latest</a:t>
            </a:r>
            <a:endParaRPr lang="en-US" sz="1600" dirty="0"/>
          </a:p>
        </p:txBody>
      </p:sp>
      <p:sp>
        <p:nvSpPr>
          <p:cNvPr id="20" name="Text 18"/>
          <p:cNvSpPr/>
          <p:nvPr/>
        </p:nvSpPr>
        <p:spPr>
          <a:xfrm>
            <a:off x="8366760" y="2761488"/>
            <a:ext cx="3154680" cy="64008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Retrain only on the most recent block</a:t>
            </a:r>
            <a:endParaRPr lang="en-US" sz="1100" dirty="0"/>
          </a:p>
        </p:txBody>
      </p:sp>
      <p:sp>
        <p:nvSpPr>
          <p:cNvPr id="21" name="Text 19"/>
          <p:cNvSpPr/>
          <p:nvPr/>
        </p:nvSpPr>
        <p:spPr>
          <a:xfrm>
            <a:off x="8366760" y="3520440"/>
            <a:ext cx="3154680" cy="640080"/>
          </a:xfrm>
          <a:prstGeom prst="rect">
            <a:avLst/>
          </a:prstGeom>
          <a:noFill/>
          <a:ln/>
        </p:spPr>
        <p:txBody>
          <a:bodyPr wrap="square" rtlCol="0" anchor="t"/>
          <a:lstStyle/>
          <a:p>
            <a:pPr indent="0" marL="0">
              <a:buNone/>
            </a:pPr>
            <a:r>
              <a:rPr lang="en-US" sz="1150" b="1" i="1" dirty="0">
                <a:solidFill>
                  <a:srgbClr val="FF6B4A"/>
                </a:solidFill>
                <a:latin typeface="Calibri" pitchFamily="34" charset="0"/>
                <a:ea typeface="Calibri" pitchFamily="34" charset="-122"/>
                <a:cs typeface="Calibri" pitchFamily="34" charset="-120"/>
              </a:rPr>
              <a:t>Best performance — most efficient (default)</a:t>
            </a:r>
            <a:endParaRPr lang="en-US" sz="1150" dirty="0"/>
          </a:p>
        </p:txBody>
      </p:sp>
      <p:sp>
        <p:nvSpPr>
          <p:cNvPr id="22" name="Text 20"/>
          <p:cNvSpPr/>
          <p:nvPr/>
        </p:nvSpPr>
        <p:spPr>
          <a:xfrm>
            <a:off x="548640" y="4526280"/>
            <a:ext cx="3657600" cy="274320"/>
          </a:xfrm>
          <a:prstGeom prst="rect">
            <a:avLst/>
          </a:prstGeom>
          <a:noFill/>
          <a:ln/>
        </p:spPr>
        <p:txBody>
          <a:bodyPr wrap="square" rtlCol="0" anchor="ctr"/>
          <a:lstStyle/>
          <a:p>
            <a:pPr indent="0" marL="0">
              <a:buNone/>
            </a:pPr>
            <a:r>
              <a:rPr lang="en-US" sz="1100" b="1" spc="120" kern="0" dirty="0">
                <a:solidFill>
                  <a:srgbClr val="1F6F8B"/>
                </a:solidFill>
                <a:latin typeface="Calibri" pitchFamily="34" charset="0"/>
                <a:ea typeface="Calibri" pitchFamily="34" charset="-122"/>
                <a:cs typeface="Calibri" pitchFamily="34" charset="-120"/>
              </a:rPr>
              <a:t>NON-OBVIOUS FINDING</a:t>
            </a:r>
            <a:endParaRPr lang="en-US" sz="1100" dirty="0"/>
          </a:p>
        </p:txBody>
      </p:sp>
      <p:sp>
        <p:nvSpPr>
          <p:cNvPr id="23" name="Text 21"/>
          <p:cNvSpPr/>
          <p:nvPr/>
        </p:nvSpPr>
        <p:spPr>
          <a:xfrm>
            <a:off x="548640" y="4828032"/>
            <a:ext cx="5486400" cy="822960"/>
          </a:xfrm>
          <a:prstGeom prst="rect">
            <a:avLst/>
          </a:prstGeom>
          <a:noFill/>
          <a:ln/>
        </p:spPr>
        <p:txBody>
          <a:bodyPr wrap="square" rtlCol="0" anchor="t"/>
          <a:lstStyle/>
          <a:p>
            <a:pPr indent="0" marL="0">
              <a:buNone/>
            </a:pPr>
            <a:r>
              <a:rPr lang="en-US" sz="1250" dirty="0">
                <a:solidFill>
                  <a:srgbClr val="4A5568"/>
                </a:solidFill>
                <a:latin typeface="Calibri" pitchFamily="34" charset="0"/>
                <a:ea typeface="Calibri" pitchFamily="34" charset="-122"/>
                <a:cs typeface="Calibri" pitchFamily="34" charset="-120"/>
              </a:rPr>
              <a:t>Keeping more historical network structure does not help — it actively hurts. Old, now-irrelevant ties dilute the signal for detecting new communities.</a:t>
            </a:r>
            <a:endParaRPr lang="en-US" sz="1250" dirty="0"/>
          </a:p>
        </p:txBody>
      </p:sp>
      <p:sp>
        <p:nvSpPr>
          <p:cNvPr id="24" name="Text 22"/>
          <p:cNvSpPr/>
          <p:nvPr/>
        </p:nvSpPr>
        <p:spPr>
          <a:xfrm>
            <a:off x="6309360" y="4526280"/>
            <a:ext cx="3657600" cy="274320"/>
          </a:xfrm>
          <a:prstGeom prst="rect">
            <a:avLst/>
          </a:prstGeom>
          <a:noFill/>
          <a:ln/>
        </p:spPr>
        <p:txBody>
          <a:bodyPr wrap="square" rtlCol="0" anchor="ctr"/>
          <a:lstStyle/>
          <a:p>
            <a:pPr indent="0" marL="0">
              <a:buNone/>
            </a:pPr>
            <a:r>
              <a:rPr lang="en-US" sz="1100" b="1" spc="120" kern="0" dirty="0">
                <a:solidFill>
                  <a:srgbClr val="1F6F8B"/>
                </a:solidFill>
                <a:latin typeface="Calibri" pitchFamily="34" charset="0"/>
                <a:ea typeface="Calibri" pitchFamily="34" charset="-122"/>
                <a:cs typeface="Calibri" pitchFamily="34" charset="-120"/>
              </a:rPr>
              <a:t>OTHER ABLATIONS</a:t>
            </a:r>
            <a:endParaRPr lang="en-US" sz="1100" dirty="0"/>
          </a:p>
        </p:txBody>
      </p:sp>
      <p:sp>
        <p:nvSpPr>
          <p:cNvPr id="25" name="Text 23"/>
          <p:cNvSpPr/>
          <p:nvPr/>
        </p:nvSpPr>
        <p:spPr>
          <a:xfrm>
            <a:off x="6309360" y="4828032"/>
            <a:ext cx="5303520" cy="36576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  Hard-negative sampling consistently improves NMI</a:t>
            </a:r>
            <a:endParaRPr lang="en-US" sz="1150" dirty="0"/>
          </a:p>
        </p:txBody>
      </p:sp>
      <p:sp>
        <p:nvSpPr>
          <p:cNvPr id="26" name="Text 24"/>
          <p:cNvSpPr/>
          <p:nvPr/>
        </p:nvSpPr>
        <p:spPr>
          <a:xfrm>
            <a:off x="6309360" y="5212080"/>
            <a:ext cx="5303520" cy="36576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  Smaller maintenance windows (1–3 blocks) slightly outperform larger ones</a:t>
            </a:r>
            <a:endParaRPr lang="en-US" sz="1150" dirty="0"/>
          </a:p>
        </p:txBody>
      </p:sp>
      <p:sp>
        <p:nvSpPr>
          <p:cNvPr id="27" name="Text 25"/>
          <p:cNvSpPr/>
          <p:nvPr/>
        </p:nvSpPr>
        <p:spPr>
          <a:xfrm>
            <a:off x="6309360" y="5596128"/>
            <a:ext cx="5303520" cy="365760"/>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  Batch size (1000–4000) has little effect on NMI/AMI</a:t>
            </a:r>
            <a:endParaRPr lang="en-US" sz="1150" dirty="0"/>
          </a:p>
        </p:txBody>
      </p:sp>
      <p:sp>
        <p:nvSpPr>
          <p:cNvPr id="28" name="Text 26"/>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5. VISUALIZATION &amp; GRAPH REPRESENTATION</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From Architecture to Evidence</a:t>
            </a:r>
            <a:endParaRPr lang="en-US" sz="3000" dirty="0"/>
          </a:p>
        </p:txBody>
      </p:sp>
      <p:pic>
        <p:nvPicPr>
          <p:cNvPr id="4" name="Image 0" descr="D:\Chrona\assets\Incremental_Message_Embedding.png">    </p:cNvPr>
          <p:cNvPicPr>
            <a:picLocks noChangeAspect="1"/>
          </p:cNvPicPr>
          <p:nvPr/>
        </p:nvPicPr>
        <p:blipFill>
          <a:blip r:embed="rId1"/>
          <a:stretch>
            <a:fillRect/>
          </a:stretch>
        </p:blipFill>
        <p:spPr>
          <a:xfrm>
            <a:off x="548640" y="1463040"/>
            <a:ext cx="5394960" cy="3502152"/>
          </a:xfrm>
          <a:prstGeom prst="rect">
            <a:avLst/>
          </a:prstGeom>
        </p:spPr>
      </p:pic>
      <p:sp>
        <p:nvSpPr>
          <p:cNvPr id="5" name="Text 2"/>
          <p:cNvSpPr/>
          <p:nvPr/>
        </p:nvSpPr>
        <p:spPr>
          <a:xfrm>
            <a:off x="548640" y="5029200"/>
            <a:ext cx="5394960" cy="320040"/>
          </a:xfrm>
          <a:prstGeom prst="rect">
            <a:avLst/>
          </a:prstGeom>
          <a:noFill/>
          <a:ln/>
        </p:spPr>
        <p:txBody>
          <a:bodyPr wrap="square" rtlCol="0" anchor="ctr"/>
          <a:lstStyle/>
          <a:p>
            <a:pPr algn="ctr" indent="0" marL="0">
              <a:buNone/>
            </a:pPr>
            <a:r>
              <a:rPr lang="en-US" sz="1000" i="1" dirty="0">
                <a:solidFill>
                  <a:srgbClr val="8A94A6"/>
                </a:solidFill>
                <a:latin typeface="Calibri" pitchFamily="34" charset="0"/>
                <a:ea typeface="Calibri" pitchFamily="34" charset="-122"/>
                <a:cs typeface="Calibri" pitchFamily="34" charset="-120"/>
              </a:rPr>
              <a:t>Fig. Pre-training → detection → maintenance lifecycle</a:t>
            </a:r>
            <a:endParaRPr lang="en-US" sz="1000" dirty="0"/>
          </a:p>
        </p:txBody>
      </p:sp>
      <p:sp>
        <p:nvSpPr>
          <p:cNvPr id="6" name="Text 3"/>
          <p:cNvSpPr/>
          <p:nvPr/>
        </p:nvSpPr>
        <p:spPr>
          <a:xfrm>
            <a:off x="6263640" y="1417320"/>
            <a:ext cx="5394960" cy="320040"/>
          </a:xfrm>
          <a:prstGeom prst="rect">
            <a:avLst/>
          </a:prstGeom>
          <a:noFill/>
          <a:ln/>
        </p:spPr>
        <p:txBody>
          <a:bodyPr wrap="square" rtlCol="0" anchor="ctr"/>
          <a:lstStyle/>
          <a:p>
            <a:pPr indent="0" marL="0">
              <a:buNone/>
            </a:pPr>
            <a:r>
              <a:rPr lang="en-US" sz="1050" b="1" spc="50" kern="0" dirty="0">
                <a:solidFill>
                  <a:srgbClr val="FF6B4A"/>
                </a:solidFill>
                <a:latin typeface="Calibri" pitchFamily="34" charset="0"/>
                <a:ea typeface="Calibri" pitchFamily="34" charset="-122"/>
                <a:cs typeface="Calibri" pitchFamily="34" charset="-120"/>
              </a:rPr>
              <a:t>GENERATE BEFORE PRESENTING — REPLACE THESE PLACEHOLDERS</a:t>
            </a:r>
            <a:endParaRPr lang="en-US" sz="1050" dirty="0"/>
          </a:p>
        </p:txBody>
      </p:sp>
      <p:sp>
        <p:nvSpPr>
          <p:cNvPr id="7" name="Shape 4"/>
          <p:cNvSpPr/>
          <p:nvPr/>
        </p:nvSpPr>
        <p:spPr>
          <a:xfrm>
            <a:off x="6263640" y="1828800"/>
            <a:ext cx="502920" cy="502920"/>
          </a:xfrm>
          <a:prstGeom prst="ellipse">
            <a:avLst/>
          </a:prstGeom>
          <a:solidFill>
            <a:srgbClr val="1F6F8B"/>
          </a:solidFill>
          <a:ln/>
        </p:spPr>
      </p:sp>
      <p:pic>
        <p:nvPicPr>
          <p:cNvPr id="8" name="Image 1" descr="C:\Users\KAVINESH\AppData\Local\Temp\claude\d--Chrona\07066fe5-9470-4a71-9fac-1c2f673f42c6\scratchpad\deck\icons\chart.png">    </p:cNvPr>
          <p:cNvPicPr>
            <a:picLocks noChangeAspect="1"/>
          </p:cNvPicPr>
          <p:nvPr/>
        </p:nvPicPr>
        <p:blipFill>
          <a:blip r:embed="rId2"/>
          <a:stretch>
            <a:fillRect/>
          </a:stretch>
        </p:blipFill>
        <p:spPr>
          <a:xfrm>
            <a:off x="6376797" y="1941957"/>
            <a:ext cx="276606" cy="276606"/>
          </a:xfrm>
          <a:prstGeom prst="rect">
            <a:avLst/>
          </a:prstGeom>
        </p:spPr>
      </p:pic>
      <p:sp>
        <p:nvSpPr>
          <p:cNvPr id="9" name="Text 5"/>
          <p:cNvSpPr/>
          <p:nvPr/>
        </p:nvSpPr>
        <p:spPr>
          <a:xfrm>
            <a:off x="6903720" y="1801368"/>
            <a:ext cx="4754880" cy="3200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metrics_over_time.png</a:t>
            </a:r>
            <a:endParaRPr lang="en-US" sz="1300" dirty="0"/>
          </a:p>
        </p:txBody>
      </p:sp>
      <p:sp>
        <p:nvSpPr>
          <p:cNvPr id="10" name="Text 6"/>
          <p:cNvSpPr/>
          <p:nvPr/>
        </p:nvSpPr>
        <p:spPr>
          <a:xfrm>
            <a:off x="6903720" y="2103120"/>
            <a:ext cx="4754880" cy="59436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NMI/AMI/ARI across the incremental run — proves the model tracks a growing network</a:t>
            </a:r>
            <a:endParaRPr lang="en-US" sz="1050" dirty="0"/>
          </a:p>
        </p:txBody>
      </p:sp>
      <p:sp>
        <p:nvSpPr>
          <p:cNvPr id="11" name="Shape 7"/>
          <p:cNvSpPr/>
          <p:nvPr/>
        </p:nvSpPr>
        <p:spPr>
          <a:xfrm>
            <a:off x="6263640" y="2788920"/>
            <a:ext cx="502920" cy="502920"/>
          </a:xfrm>
          <a:prstGeom prst="ellipse">
            <a:avLst/>
          </a:prstGeom>
          <a:solidFill>
            <a:srgbClr val="1F6F8B"/>
          </a:solidFill>
          <a:ln/>
        </p:spPr>
      </p:sp>
      <p:pic>
        <p:nvPicPr>
          <p:cNvPr id="12" name="Image 2" descr="C:\Users\KAVINESH\AppData\Local\Temp\claude\d--Chrona\07066fe5-9470-4a71-9fac-1c2f673f42c6\scratchpad\deck\icons\image.png">    </p:cNvPr>
          <p:cNvPicPr>
            <a:picLocks noChangeAspect="1"/>
          </p:cNvPicPr>
          <p:nvPr/>
        </p:nvPicPr>
        <p:blipFill>
          <a:blip r:embed="rId3"/>
          <a:stretch>
            <a:fillRect/>
          </a:stretch>
        </p:blipFill>
        <p:spPr>
          <a:xfrm>
            <a:off x="6376797" y="2902077"/>
            <a:ext cx="276606" cy="276606"/>
          </a:xfrm>
          <a:prstGeom prst="rect">
            <a:avLst/>
          </a:prstGeom>
        </p:spPr>
      </p:pic>
      <p:sp>
        <p:nvSpPr>
          <p:cNvPr id="13" name="Text 8"/>
          <p:cNvSpPr/>
          <p:nvPr/>
        </p:nvSpPr>
        <p:spPr>
          <a:xfrm>
            <a:off x="6903720" y="2761488"/>
            <a:ext cx="4754880" cy="3200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embedding_clusters_i.png</a:t>
            </a:r>
            <a:endParaRPr lang="en-US" sz="1300" dirty="0"/>
          </a:p>
        </p:txBody>
      </p:sp>
      <p:sp>
        <p:nvSpPr>
          <p:cNvPr id="14" name="Text 9"/>
          <p:cNvSpPr/>
          <p:nvPr/>
        </p:nvSpPr>
        <p:spPr>
          <a:xfrm>
            <a:off x="6903720" y="3063240"/>
            <a:ext cx="4754880" cy="59436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PCA scatter of message embeddings — proves events form separable communities</a:t>
            </a:r>
            <a:endParaRPr lang="en-US" sz="1050" dirty="0"/>
          </a:p>
        </p:txBody>
      </p:sp>
      <p:sp>
        <p:nvSpPr>
          <p:cNvPr id="15" name="Shape 10"/>
          <p:cNvSpPr/>
          <p:nvPr/>
        </p:nvSpPr>
        <p:spPr>
          <a:xfrm>
            <a:off x="6263640" y="3749040"/>
            <a:ext cx="502920" cy="502920"/>
          </a:xfrm>
          <a:prstGeom prst="ellipse">
            <a:avLst/>
          </a:prstGeom>
          <a:solidFill>
            <a:srgbClr val="1F6F8B"/>
          </a:solidFill>
          <a:ln/>
        </p:spPr>
      </p:sp>
      <p:pic>
        <p:nvPicPr>
          <p:cNvPr id="16" name="Image 3" descr="C:\Users\KAVINESH\AppData\Local\Temp\claude\d--Chrona\07066fe5-9470-4a71-9fac-1c2f673f42c6\scratchpad\deck\icons\share.png">    </p:cNvPr>
          <p:cNvPicPr>
            <a:picLocks noChangeAspect="1"/>
          </p:cNvPicPr>
          <p:nvPr/>
        </p:nvPicPr>
        <p:blipFill>
          <a:blip r:embed="rId4"/>
          <a:stretch>
            <a:fillRect/>
          </a:stretch>
        </p:blipFill>
        <p:spPr>
          <a:xfrm>
            <a:off x="6376797" y="3862197"/>
            <a:ext cx="276606" cy="276606"/>
          </a:xfrm>
          <a:prstGeom prst="rect">
            <a:avLst/>
          </a:prstGeom>
        </p:spPr>
      </p:pic>
      <p:sp>
        <p:nvSpPr>
          <p:cNvPr id="17" name="Text 11"/>
          <p:cNvSpPr/>
          <p:nvPr/>
        </p:nvSpPr>
        <p:spPr>
          <a:xfrm>
            <a:off x="6903720" y="3721608"/>
            <a:ext cx="4754880" cy="3200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degree_distribution_i.png</a:t>
            </a:r>
            <a:endParaRPr lang="en-US" sz="1300" dirty="0"/>
          </a:p>
        </p:txBody>
      </p:sp>
      <p:sp>
        <p:nvSpPr>
          <p:cNvPr id="18" name="Text 12"/>
          <p:cNvSpPr/>
          <p:nvPr/>
        </p:nvSpPr>
        <p:spPr>
          <a:xfrm>
            <a:off x="6903720" y="4023360"/>
            <a:ext cx="4754880" cy="59436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Node-degree histogram — proves the network is non-trivially connected</a:t>
            </a:r>
            <a:endParaRPr lang="en-US" sz="1050" dirty="0"/>
          </a:p>
        </p:txBody>
      </p:sp>
      <p:sp>
        <p:nvSpPr>
          <p:cNvPr id="19" name="Shape 13"/>
          <p:cNvSpPr/>
          <p:nvPr/>
        </p:nvSpPr>
        <p:spPr>
          <a:xfrm>
            <a:off x="6263640" y="4754880"/>
            <a:ext cx="5349240" cy="731520"/>
          </a:xfrm>
          <a:prstGeom prst="roundRect">
            <a:avLst>
              <a:gd name="adj" fmla="val 10000"/>
            </a:avLst>
          </a:prstGeom>
          <a:solidFill>
            <a:srgbClr val="14213D"/>
          </a:solidFill>
          <a:ln/>
        </p:spPr>
      </p:sp>
      <p:sp>
        <p:nvSpPr>
          <p:cNvPr id="20" name="Text 14"/>
          <p:cNvSpPr/>
          <p:nvPr/>
        </p:nvSpPr>
        <p:spPr>
          <a:xfrm>
            <a:off x="6400800" y="4846320"/>
            <a:ext cx="5120640" cy="548640"/>
          </a:xfrm>
          <a:prstGeom prst="rect">
            <a:avLst/>
          </a:prstGeom>
          <a:noFill/>
          <a:ln/>
        </p:spPr>
        <p:txBody>
          <a:bodyPr wrap="square"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Run: python tools/visualize_run.py metrics|embeddings|graph …</a:t>
            </a:r>
            <a:endParaRPr lang="en-US" sz="1050" dirty="0"/>
          </a:p>
        </p:txBody>
      </p:sp>
      <p:sp>
        <p:nvSpPr>
          <p:cNvPr id="21" name="Text 15"/>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1F6F8B"/>
                </a:solidFill>
                <a:latin typeface="Calibri" pitchFamily="34" charset="0"/>
                <a:ea typeface="Calibri" pitchFamily="34" charset="-122"/>
                <a:cs typeface="Calibri" pitchFamily="34" charset="-120"/>
              </a:rPr>
              <a:t>6. DISCUSSION &amp; IMPLICATIONS</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This Means — and Where It Falls Short</a:t>
            </a:r>
            <a:endParaRPr lang="en-US" sz="3000" dirty="0"/>
          </a:p>
        </p:txBody>
      </p:sp>
      <p:sp>
        <p:nvSpPr>
          <p:cNvPr id="4" name="Shape 2"/>
          <p:cNvSpPr/>
          <p:nvPr/>
        </p:nvSpPr>
        <p:spPr>
          <a:xfrm>
            <a:off x="548640" y="1417320"/>
            <a:ext cx="5349240" cy="4206240"/>
          </a:xfrm>
          <a:prstGeom prst="roundRect">
            <a:avLst>
              <a:gd name="adj" fmla="val 2174"/>
            </a:avLst>
          </a:prstGeom>
          <a:solidFill>
            <a:srgbClr val="FFFFFF"/>
          </a:solidFill>
          <a:ln w="12700">
            <a:solidFill>
              <a:srgbClr val="E2E8F0"/>
            </a:solidFill>
            <a:prstDash val="solid"/>
          </a:ln>
        </p:spPr>
      </p:sp>
      <p:sp>
        <p:nvSpPr>
          <p:cNvPr id="5" name="Shape 3"/>
          <p:cNvSpPr/>
          <p:nvPr/>
        </p:nvSpPr>
        <p:spPr>
          <a:xfrm>
            <a:off x="868680" y="1691640"/>
            <a:ext cx="502920" cy="502920"/>
          </a:xfrm>
          <a:prstGeom prst="ellipse">
            <a:avLst/>
          </a:prstGeom>
          <a:solidFill>
            <a:srgbClr val="FF6B4A"/>
          </a:solidFill>
          <a:ln/>
        </p:spPr>
      </p:sp>
      <p:pic>
        <p:nvPicPr>
          <p:cNvPr id="6" name="Image 0" descr="C:\Users\KAVINESH\AppData\Local\Temp\claude\d--Chrona\07066fe5-9470-4a71-9fac-1c2f673f42c6\scratchpad\deck\icons\check.png">    </p:cNvPr>
          <p:cNvPicPr>
            <a:picLocks noChangeAspect="1"/>
          </p:cNvPicPr>
          <p:nvPr/>
        </p:nvPicPr>
        <p:blipFill>
          <a:blip r:embed="rId1"/>
          <a:stretch>
            <a:fillRect/>
          </a:stretch>
        </p:blipFill>
        <p:spPr>
          <a:xfrm>
            <a:off x="981837" y="1804797"/>
            <a:ext cx="276606" cy="276606"/>
          </a:xfrm>
          <a:prstGeom prst="rect">
            <a:avLst/>
          </a:prstGeom>
        </p:spPr>
      </p:pic>
      <p:sp>
        <p:nvSpPr>
          <p:cNvPr id="7" name="Text 4"/>
          <p:cNvSpPr/>
          <p:nvPr/>
        </p:nvSpPr>
        <p:spPr>
          <a:xfrm>
            <a:off x="1508760" y="1810512"/>
            <a:ext cx="3657600" cy="274320"/>
          </a:xfrm>
          <a:prstGeom prst="rect">
            <a:avLst/>
          </a:prstGeom>
          <a:noFill/>
          <a:ln/>
        </p:spPr>
        <p:txBody>
          <a:bodyPr wrap="square" rtlCol="0" anchor="ctr"/>
          <a:lstStyle/>
          <a:p>
            <a:pPr indent="0" marL="0">
              <a:buNone/>
            </a:pPr>
            <a:r>
              <a:rPr lang="en-US" sz="1300" b="1" spc="100" kern="0" dirty="0">
                <a:solidFill>
                  <a:srgbClr val="14213D"/>
                </a:solidFill>
                <a:latin typeface="Calibri" pitchFamily="34" charset="0"/>
                <a:ea typeface="Calibri" pitchFamily="34" charset="-122"/>
                <a:cs typeface="Calibri" pitchFamily="34" charset="-120"/>
              </a:rPr>
              <a:t>IMPLICATIONS</a:t>
            </a:r>
            <a:endParaRPr lang="en-US" sz="1300" dirty="0"/>
          </a:p>
        </p:txBody>
      </p:sp>
      <p:sp>
        <p:nvSpPr>
          <p:cNvPr id="8" name="Text 5"/>
          <p:cNvSpPr/>
          <p:nvPr/>
        </p:nvSpPr>
        <p:spPr>
          <a:xfrm>
            <a:off x="868680" y="2331720"/>
            <a:ext cx="4754880" cy="91440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  Early-warning layer: emerging event clusters can be flagged before any single report confirms them.</a:t>
            </a:r>
            <a:endParaRPr lang="en-US" sz="1200" dirty="0"/>
          </a:p>
        </p:txBody>
      </p:sp>
      <p:sp>
        <p:nvSpPr>
          <p:cNvPr id="9" name="Text 6"/>
          <p:cNvSpPr/>
          <p:nvPr/>
        </p:nvSpPr>
        <p:spPr>
          <a:xfrm>
            <a:off x="868680" y="3337560"/>
            <a:ext cx="4754880" cy="91440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  Keep-latest maintenance keeps production cost low — no need to reprocess the network’s full history.</a:t>
            </a:r>
            <a:endParaRPr lang="en-US" sz="1200" dirty="0"/>
          </a:p>
        </p:txBody>
      </p:sp>
      <p:sp>
        <p:nvSpPr>
          <p:cNvPr id="10" name="Text 7"/>
          <p:cNvSpPr/>
          <p:nvPr/>
        </p:nvSpPr>
        <p:spPr>
          <a:xfrm>
            <a:off x="868680" y="4343400"/>
            <a:ext cx="4754880" cy="91440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  Relational metadata (who, which entities, which hashtags co-occur) should not be discarded even when strong language models are available — structure and language are complementary.</a:t>
            </a:r>
            <a:endParaRPr lang="en-US" sz="1200" dirty="0"/>
          </a:p>
        </p:txBody>
      </p:sp>
      <p:sp>
        <p:nvSpPr>
          <p:cNvPr id="11" name="Shape 8"/>
          <p:cNvSpPr/>
          <p:nvPr/>
        </p:nvSpPr>
        <p:spPr>
          <a:xfrm>
            <a:off x="6263640" y="1417320"/>
            <a:ext cx="5349240" cy="4206240"/>
          </a:xfrm>
          <a:prstGeom prst="roundRect">
            <a:avLst>
              <a:gd name="adj" fmla="val 2174"/>
            </a:avLst>
          </a:prstGeom>
          <a:solidFill>
            <a:srgbClr val="FFFFFF"/>
          </a:solidFill>
          <a:ln w="12700">
            <a:solidFill>
              <a:srgbClr val="E2E8F0"/>
            </a:solidFill>
            <a:prstDash val="solid"/>
          </a:ln>
        </p:spPr>
      </p:sp>
      <p:sp>
        <p:nvSpPr>
          <p:cNvPr id="12" name="Shape 9"/>
          <p:cNvSpPr/>
          <p:nvPr/>
        </p:nvSpPr>
        <p:spPr>
          <a:xfrm>
            <a:off x="6583680" y="1691640"/>
            <a:ext cx="502920" cy="502920"/>
          </a:xfrm>
          <a:prstGeom prst="ellipse">
            <a:avLst/>
          </a:prstGeom>
          <a:solidFill>
            <a:srgbClr val="1F6F8B"/>
          </a:solidFill>
          <a:ln/>
        </p:spPr>
      </p:sp>
      <p:pic>
        <p:nvPicPr>
          <p:cNvPr id="13" name="Image 1" descr="C:\Users\KAVINESH\AppData\Local\Temp\claude\d--Chrona\07066fe5-9470-4a71-9fac-1c2f673f42c6\scratchpad\deck\icons\warning.png">    </p:cNvPr>
          <p:cNvPicPr>
            <a:picLocks noChangeAspect="1"/>
          </p:cNvPicPr>
          <p:nvPr/>
        </p:nvPicPr>
        <p:blipFill>
          <a:blip r:embed="rId2"/>
          <a:stretch>
            <a:fillRect/>
          </a:stretch>
        </p:blipFill>
        <p:spPr>
          <a:xfrm>
            <a:off x="6696837" y="1804797"/>
            <a:ext cx="276606" cy="276606"/>
          </a:xfrm>
          <a:prstGeom prst="rect">
            <a:avLst/>
          </a:prstGeom>
        </p:spPr>
      </p:pic>
      <p:sp>
        <p:nvSpPr>
          <p:cNvPr id="14" name="Text 10"/>
          <p:cNvSpPr/>
          <p:nvPr/>
        </p:nvSpPr>
        <p:spPr>
          <a:xfrm>
            <a:off x="7223760" y="1810512"/>
            <a:ext cx="3657600" cy="274320"/>
          </a:xfrm>
          <a:prstGeom prst="rect">
            <a:avLst/>
          </a:prstGeom>
          <a:noFill/>
          <a:ln/>
        </p:spPr>
        <p:txBody>
          <a:bodyPr wrap="square" rtlCol="0" anchor="ctr"/>
          <a:lstStyle/>
          <a:p>
            <a:pPr indent="0" marL="0">
              <a:buNone/>
            </a:pPr>
            <a:r>
              <a:rPr lang="en-US" sz="1300" b="1" spc="100" kern="0" dirty="0">
                <a:solidFill>
                  <a:srgbClr val="14213D"/>
                </a:solidFill>
                <a:latin typeface="Calibri" pitchFamily="34" charset="0"/>
                <a:ea typeface="Calibri" pitchFamily="34" charset="-122"/>
                <a:cs typeface="Calibri" pitchFamily="34" charset="-120"/>
              </a:rPr>
              <a:t>LIMITATIONS</a:t>
            </a:r>
            <a:endParaRPr lang="en-US" sz="1300" dirty="0"/>
          </a:p>
        </p:txBody>
      </p:sp>
      <p:sp>
        <p:nvSpPr>
          <p:cNvPr id="15" name="Text 11"/>
          <p:cNvSpPr/>
          <p:nvPr/>
        </p:nvSpPr>
        <p:spPr>
          <a:xfrm>
            <a:off x="6583680" y="2331720"/>
            <a:ext cx="4754880" cy="91440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  Single platform, single 28-day window, 503 pre-labeled categories — generalization beyond Twitter is untested here.</a:t>
            </a:r>
            <a:endParaRPr lang="en-US" sz="1200" dirty="0"/>
          </a:p>
        </p:txBody>
      </p:sp>
      <p:sp>
        <p:nvSpPr>
          <p:cNvPr id="16" name="Text 12"/>
          <p:cNvSpPr/>
          <p:nvPr/>
        </p:nvSpPr>
        <p:spPr>
          <a:xfrm>
            <a:off x="6583680" y="3337560"/>
            <a:ext cx="4754880" cy="91440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  Both node-filtering strategies use fixed, hand-set thresholds (median percentile / 50% confidence), not tuned per deployment.</a:t>
            </a:r>
            <a:endParaRPr lang="en-US" sz="1200" dirty="0"/>
          </a:p>
        </p:txBody>
      </p:sp>
      <p:sp>
        <p:nvSpPr>
          <p:cNvPr id="17" name="Text 13"/>
          <p:cNvSpPr/>
          <p:nvPr/>
        </p:nvSpPr>
        <p:spPr>
          <a:xfrm>
            <a:off x="6583680" y="4343400"/>
            <a:ext cx="4754880" cy="91440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  The benchmark’s event mix (disasters, breaking news) may not represent slower-burn events like misinformation campaigns.</a:t>
            </a:r>
            <a:endParaRPr lang="en-US" sz="1200" dirty="0"/>
          </a:p>
        </p:txBody>
      </p:sp>
      <p:sp>
        <p:nvSpPr>
          <p:cNvPr id="18" name="Text 14"/>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FF6B4A"/>
                </a:solidFill>
                <a:latin typeface="Calibri" pitchFamily="34" charset="0"/>
                <a:ea typeface="Calibri" pitchFamily="34" charset="-122"/>
                <a:cs typeface="Calibri" pitchFamily="34" charset="-120"/>
              </a:rPr>
              <a:t>7. CONCLUSION &amp; SUMMARY</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Network Problem, Solved as One</a:t>
            </a:r>
            <a:endParaRPr lang="en-US" sz="3000" dirty="0"/>
          </a:p>
        </p:txBody>
      </p:sp>
      <p:sp>
        <p:nvSpPr>
          <p:cNvPr id="4" name="Shape 2"/>
          <p:cNvSpPr/>
          <p:nvPr/>
        </p:nvSpPr>
        <p:spPr>
          <a:xfrm>
            <a:off x="548640" y="1600200"/>
            <a:ext cx="2011680" cy="1371600"/>
          </a:xfrm>
          <a:prstGeom prst="roundRect">
            <a:avLst>
              <a:gd name="adj" fmla="val 6667"/>
            </a:avLst>
          </a:prstGeom>
          <a:solidFill>
            <a:srgbClr val="0D1730"/>
          </a:solidFill>
          <a:ln/>
        </p:spPr>
      </p:sp>
      <p:sp>
        <p:nvSpPr>
          <p:cNvPr id="5" name="Text 3"/>
          <p:cNvSpPr/>
          <p:nvPr/>
        </p:nvSpPr>
        <p:spPr>
          <a:xfrm>
            <a:off x="548640" y="1709928"/>
            <a:ext cx="2011680" cy="777240"/>
          </a:xfrm>
          <a:prstGeom prst="rect">
            <a:avLst/>
          </a:prstGeom>
          <a:noFill/>
          <a:ln/>
        </p:spPr>
        <p:txBody>
          <a:bodyPr wrap="square"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0.72</a:t>
            </a:r>
            <a:endParaRPr lang="en-US" sz="3400" dirty="0"/>
          </a:p>
        </p:txBody>
      </p:sp>
      <p:sp>
        <p:nvSpPr>
          <p:cNvPr id="6" name="Text 4"/>
          <p:cNvSpPr/>
          <p:nvPr/>
        </p:nvSpPr>
        <p:spPr>
          <a:xfrm>
            <a:off x="548640" y="2468880"/>
            <a:ext cx="201168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NMI</a:t>
            </a:r>
            <a:endParaRPr lang="en-US" sz="1200" dirty="0"/>
          </a:p>
        </p:txBody>
      </p:sp>
      <p:sp>
        <p:nvSpPr>
          <p:cNvPr id="7" name="Shape 5"/>
          <p:cNvSpPr/>
          <p:nvPr/>
        </p:nvSpPr>
        <p:spPr>
          <a:xfrm>
            <a:off x="2834640" y="1600200"/>
            <a:ext cx="2011680" cy="1371600"/>
          </a:xfrm>
          <a:prstGeom prst="roundRect">
            <a:avLst>
              <a:gd name="adj" fmla="val 6667"/>
            </a:avLst>
          </a:prstGeom>
          <a:solidFill>
            <a:srgbClr val="0D1730"/>
          </a:solidFill>
          <a:ln/>
        </p:spPr>
      </p:sp>
      <p:sp>
        <p:nvSpPr>
          <p:cNvPr id="8" name="Text 6"/>
          <p:cNvSpPr/>
          <p:nvPr/>
        </p:nvSpPr>
        <p:spPr>
          <a:xfrm>
            <a:off x="2834640" y="1709928"/>
            <a:ext cx="2011680" cy="777240"/>
          </a:xfrm>
          <a:prstGeom prst="rect">
            <a:avLst/>
          </a:prstGeom>
          <a:noFill/>
          <a:ln/>
        </p:spPr>
        <p:txBody>
          <a:bodyPr wrap="square"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0.53</a:t>
            </a:r>
            <a:endParaRPr lang="en-US" sz="3400" dirty="0"/>
          </a:p>
        </p:txBody>
      </p:sp>
      <p:sp>
        <p:nvSpPr>
          <p:cNvPr id="9" name="Text 7"/>
          <p:cNvSpPr/>
          <p:nvPr/>
        </p:nvSpPr>
        <p:spPr>
          <a:xfrm>
            <a:off x="2834640" y="2468880"/>
            <a:ext cx="201168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AMI</a:t>
            </a:r>
            <a:endParaRPr lang="en-US" sz="1200" dirty="0"/>
          </a:p>
        </p:txBody>
      </p:sp>
      <p:sp>
        <p:nvSpPr>
          <p:cNvPr id="10" name="Shape 8"/>
          <p:cNvSpPr/>
          <p:nvPr/>
        </p:nvSpPr>
        <p:spPr>
          <a:xfrm>
            <a:off x="5120640" y="1600200"/>
            <a:ext cx="2011680" cy="1371600"/>
          </a:xfrm>
          <a:prstGeom prst="roundRect">
            <a:avLst>
              <a:gd name="adj" fmla="val 6667"/>
            </a:avLst>
          </a:prstGeom>
          <a:solidFill>
            <a:srgbClr val="0D1730"/>
          </a:solidFill>
          <a:ln/>
        </p:spPr>
      </p:sp>
      <p:sp>
        <p:nvSpPr>
          <p:cNvPr id="11" name="Text 9"/>
          <p:cNvSpPr/>
          <p:nvPr/>
        </p:nvSpPr>
        <p:spPr>
          <a:xfrm>
            <a:off x="5120640" y="1709928"/>
            <a:ext cx="2011680" cy="777240"/>
          </a:xfrm>
          <a:prstGeom prst="rect">
            <a:avLst/>
          </a:prstGeom>
          <a:noFill/>
          <a:ln/>
        </p:spPr>
        <p:txBody>
          <a:bodyPr wrap="square"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0.24</a:t>
            </a:r>
            <a:endParaRPr lang="en-US" sz="3400" dirty="0"/>
          </a:p>
        </p:txBody>
      </p:sp>
      <p:sp>
        <p:nvSpPr>
          <p:cNvPr id="12" name="Text 10"/>
          <p:cNvSpPr/>
          <p:nvPr/>
        </p:nvSpPr>
        <p:spPr>
          <a:xfrm>
            <a:off x="5120640" y="2468880"/>
            <a:ext cx="201168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ARI</a:t>
            </a:r>
            <a:endParaRPr lang="en-US" sz="1200" dirty="0"/>
          </a:p>
        </p:txBody>
      </p:sp>
      <p:sp>
        <p:nvSpPr>
          <p:cNvPr id="13" name="Shape 11"/>
          <p:cNvSpPr/>
          <p:nvPr/>
        </p:nvSpPr>
        <p:spPr>
          <a:xfrm>
            <a:off x="548640" y="3337560"/>
            <a:ext cx="502920" cy="502920"/>
          </a:xfrm>
          <a:prstGeom prst="ellipse">
            <a:avLst/>
          </a:prstGeom>
          <a:solidFill>
            <a:srgbClr val="1F6F8B"/>
          </a:solidFill>
          <a:ln/>
        </p:spPr>
      </p:sp>
      <p:pic>
        <p:nvPicPr>
          <p:cNvPr id="14" name="Image 0" descr="C:\Users\KAVINESH\AppData\Local\Temp\claude\d--Chrona\07066fe5-9470-4a71-9fac-1c2f673f42c6\scratchpad\deck\icons\quote.png">    </p:cNvPr>
          <p:cNvPicPr>
            <a:picLocks noChangeAspect="1"/>
          </p:cNvPicPr>
          <p:nvPr/>
        </p:nvPicPr>
        <p:blipFill>
          <a:blip r:embed="rId1"/>
          <a:stretch>
            <a:fillRect/>
          </a:stretch>
        </p:blipFill>
        <p:spPr>
          <a:xfrm>
            <a:off x="661797" y="3450717"/>
            <a:ext cx="276606" cy="276606"/>
          </a:xfrm>
          <a:prstGeom prst="rect">
            <a:avLst/>
          </a:prstGeom>
        </p:spPr>
      </p:pic>
      <p:sp>
        <p:nvSpPr>
          <p:cNvPr id="15" name="Text 12"/>
          <p:cNvSpPr/>
          <p:nvPr/>
        </p:nvSpPr>
        <p:spPr>
          <a:xfrm>
            <a:off x="1188720" y="3291840"/>
            <a:ext cx="6035040" cy="1371600"/>
          </a:xfrm>
          <a:prstGeom prst="rect">
            <a:avLst/>
          </a:prstGeom>
          <a:noFill/>
          <a:ln/>
        </p:spPr>
        <p:txBody>
          <a:bodyPr wrap="square" rtlCol="0" anchor="t"/>
          <a:lstStyle/>
          <a:p>
            <a:pPr indent="0" marL="0">
              <a:buNone/>
            </a:pPr>
            <a:r>
              <a:rPr lang="en-US" sz="1300" i="1" dirty="0">
                <a:solidFill>
                  <a:srgbClr val="CADCFC"/>
                </a:solidFill>
                <a:latin typeface="Calibri" pitchFamily="34" charset="0"/>
                <a:ea typeface="Calibri" pitchFamily="34" charset="-122"/>
                <a:cs typeface="Calibri" pitchFamily="34" charset="-120"/>
              </a:rPr>
              <a:t>"DistilBERT-GNN uses dynamic social streams to continuously learn from new incoming data and adapt its parameters accordingly." — base paper, §7 Conclusion</a:t>
            </a:r>
            <a:endParaRPr lang="en-US" sz="1300" dirty="0"/>
          </a:p>
        </p:txBody>
      </p:sp>
      <p:sp>
        <p:nvSpPr>
          <p:cNvPr id="16" name="Shape 13"/>
          <p:cNvSpPr/>
          <p:nvPr/>
        </p:nvSpPr>
        <p:spPr>
          <a:xfrm>
            <a:off x="7589520" y="1600200"/>
            <a:ext cx="4023360" cy="3977640"/>
          </a:xfrm>
          <a:prstGeom prst="roundRect">
            <a:avLst>
              <a:gd name="adj" fmla="val 2299"/>
            </a:avLst>
          </a:prstGeom>
          <a:solidFill>
            <a:srgbClr val="FFFFFF"/>
          </a:solidFill>
          <a:ln/>
        </p:spPr>
      </p:sp>
      <p:sp>
        <p:nvSpPr>
          <p:cNvPr id="17" name="Text 14"/>
          <p:cNvSpPr/>
          <p:nvPr/>
        </p:nvSpPr>
        <p:spPr>
          <a:xfrm>
            <a:off x="7863840" y="1828800"/>
            <a:ext cx="3474720" cy="274320"/>
          </a:xfrm>
          <a:prstGeom prst="rect">
            <a:avLst/>
          </a:prstGeom>
          <a:noFill/>
          <a:ln/>
        </p:spPr>
        <p:txBody>
          <a:bodyPr wrap="square" rtlCol="0" anchor="ctr"/>
          <a:lstStyle/>
          <a:p>
            <a:pPr indent="0" marL="0">
              <a:buNone/>
            </a:pPr>
            <a:r>
              <a:rPr lang="en-US" sz="1100" b="1" spc="120" kern="0" dirty="0">
                <a:solidFill>
                  <a:srgbClr val="1F6F8B"/>
                </a:solidFill>
                <a:latin typeface="Calibri" pitchFamily="34" charset="0"/>
                <a:ea typeface="Calibri" pitchFamily="34" charset="-122"/>
                <a:cs typeface="Calibri" pitchFamily="34" charset="-120"/>
              </a:rPr>
              <a:t>CASE-STUDY TAKEAWAY</a:t>
            </a:r>
            <a:endParaRPr lang="en-US" sz="1100" dirty="0"/>
          </a:p>
        </p:txBody>
      </p:sp>
      <p:sp>
        <p:nvSpPr>
          <p:cNvPr id="18" name="Text 15"/>
          <p:cNvSpPr/>
          <p:nvPr/>
        </p:nvSpPr>
        <p:spPr>
          <a:xfrm>
            <a:off x="7863840" y="2148840"/>
            <a:ext cx="3474720" cy="1005840"/>
          </a:xfrm>
          <a:prstGeom prst="rect">
            <a:avLst/>
          </a:prstGeom>
          <a:noFill/>
          <a:ln/>
        </p:spPr>
        <p:txBody>
          <a:bodyPr wrap="square" rtlCol="0" anchor="t"/>
          <a:lstStyle/>
          <a:p>
            <a:pPr indent="0" marL="0">
              <a:buNone/>
            </a:pPr>
            <a:r>
              <a:rPr lang="en-US" sz="1450" b="1" dirty="0">
                <a:solidFill>
                  <a:srgbClr val="14213D"/>
                </a:solidFill>
                <a:latin typeface="Cambria" pitchFamily="34" charset="0"/>
                <a:ea typeface="Cambria" pitchFamily="34" charset="-122"/>
                <a:cs typeface="Cambria" pitchFamily="34" charset="-120"/>
              </a:rPr>
              <a:t>Treating social media content as a network problem — not just a text-classification problem — measurably improves event detection.</a:t>
            </a:r>
            <a:endParaRPr lang="en-US" sz="1450" dirty="0"/>
          </a:p>
        </p:txBody>
      </p:sp>
      <p:sp>
        <p:nvSpPr>
          <p:cNvPr id="19" name="Text 16"/>
          <p:cNvSpPr/>
          <p:nvPr/>
        </p:nvSpPr>
        <p:spPr>
          <a:xfrm>
            <a:off x="7863840" y="3200400"/>
            <a:ext cx="3474720" cy="2194560"/>
          </a:xfrm>
          <a:prstGeom prst="rect">
            <a:avLst/>
          </a:prstGeom>
          <a:noFill/>
          <a:ln/>
        </p:spPr>
        <p:txBody>
          <a:bodyPr wrap="square" rtlCol="0" anchor="t"/>
          <a:lstStyle/>
          <a:p>
            <a:pPr indent="0" marL="0">
              <a:buNone/>
            </a:pPr>
            <a:r>
              <a:rPr lang="en-US" sz="1150" dirty="0">
                <a:solidFill>
                  <a:srgbClr val="4A5568"/>
                </a:solidFill>
                <a:latin typeface="Calibri" pitchFamily="34" charset="0"/>
                <a:ea typeface="Calibri" pitchFamily="34" charset="-122"/>
                <a:cs typeface="Calibri" pitchFamily="34" charset="-120"/>
              </a:rPr>
              <a:t>The three techniques that make the difference: explicit graph construction, structural or content-based node filtering, and community detection over learned, attention-weighted embeddings.</a:t>
            </a:r>
            <a:endParaRPr lang="en-US" sz="1150" dirty="0"/>
          </a:p>
        </p:txBody>
      </p:sp>
      <p:sp>
        <p:nvSpPr>
          <p:cNvPr id="20" name="Text 17"/>
          <p:cNvSpPr/>
          <p:nvPr/>
        </p:nvSpPr>
        <p:spPr>
          <a:xfrm>
            <a:off x="11338560" y="6510528"/>
            <a:ext cx="64008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Shape 0"/>
          <p:cNvSpPr/>
          <p:nvPr/>
        </p:nvSpPr>
        <p:spPr>
          <a:xfrm flipV="1">
            <a:off x="1463040" y="777240"/>
            <a:ext cx="640080" cy="411480"/>
          </a:xfrm>
          <a:prstGeom prst="line">
            <a:avLst/>
          </a:prstGeom>
          <a:noFill/>
          <a:ln w="15875">
            <a:solidFill>
              <a:srgbClr val="1F6F8B">
                <a:alpha val="75000"/>
              </a:srgbClr>
            </a:solidFill>
            <a:prstDash val="solid"/>
          </a:ln>
        </p:spPr>
      </p:sp>
      <p:sp>
        <p:nvSpPr>
          <p:cNvPr id="3" name="Shape 1"/>
          <p:cNvSpPr/>
          <p:nvPr/>
        </p:nvSpPr>
        <p:spPr>
          <a:xfrm flipH="1" flipV="1">
            <a:off x="777240" y="914400"/>
            <a:ext cx="685800" cy="274320"/>
          </a:xfrm>
          <a:prstGeom prst="line">
            <a:avLst/>
          </a:prstGeom>
          <a:noFill/>
          <a:ln w="15875">
            <a:solidFill>
              <a:srgbClr val="1F6F8B">
                <a:alpha val="75000"/>
              </a:srgbClr>
            </a:solidFill>
            <a:prstDash val="solid"/>
          </a:ln>
        </p:spPr>
      </p:sp>
      <p:sp>
        <p:nvSpPr>
          <p:cNvPr id="4" name="Shape 2"/>
          <p:cNvSpPr/>
          <p:nvPr/>
        </p:nvSpPr>
        <p:spPr>
          <a:xfrm flipH="1">
            <a:off x="1828800" y="777240"/>
            <a:ext cx="274320" cy="822960"/>
          </a:xfrm>
          <a:prstGeom prst="line">
            <a:avLst/>
          </a:prstGeom>
          <a:noFill/>
          <a:ln w="15875">
            <a:solidFill>
              <a:srgbClr val="1F6F8B">
                <a:alpha val="75000"/>
              </a:srgbClr>
            </a:solidFill>
            <a:prstDash val="solid"/>
          </a:ln>
        </p:spPr>
      </p:sp>
      <p:sp>
        <p:nvSpPr>
          <p:cNvPr id="5" name="Shape 3"/>
          <p:cNvSpPr/>
          <p:nvPr/>
        </p:nvSpPr>
        <p:spPr>
          <a:xfrm flipV="1">
            <a:off x="1828800" y="1097280"/>
            <a:ext cx="777240" cy="502920"/>
          </a:xfrm>
          <a:prstGeom prst="line">
            <a:avLst/>
          </a:prstGeom>
          <a:noFill/>
          <a:ln w="15875">
            <a:solidFill>
              <a:srgbClr val="1F6F8B">
                <a:alpha val="75000"/>
              </a:srgbClr>
            </a:solidFill>
            <a:prstDash val="solid"/>
          </a:ln>
        </p:spPr>
      </p:sp>
      <p:sp>
        <p:nvSpPr>
          <p:cNvPr id="6" name="Shape 4"/>
          <p:cNvSpPr/>
          <p:nvPr/>
        </p:nvSpPr>
        <p:spPr>
          <a:xfrm>
            <a:off x="1463040" y="1188720"/>
            <a:ext cx="365760" cy="411480"/>
          </a:xfrm>
          <a:prstGeom prst="line">
            <a:avLst/>
          </a:prstGeom>
          <a:noFill/>
          <a:ln w="15875">
            <a:solidFill>
              <a:srgbClr val="1F6F8B">
                <a:alpha val="75000"/>
              </a:srgbClr>
            </a:solidFill>
            <a:prstDash val="solid"/>
          </a:ln>
        </p:spPr>
      </p:sp>
      <p:sp>
        <p:nvSpPr>
          <p:cNvPr id="7" name="Shape 5"/>
          <p:cNvSpPr/>
          <p:nvPr/>
        </p:nvSpPr>
        <p:spPr>
          <a:xfrm>
            <a:off x="9875520" y="1188720"/>
            <a:ext cx="731520" cy="457200"/>
          </a:xfrm>
          <a:prstGeom prst="line">
            <a:avLst/>
          </a:prstGeom>
          <a:noFill/>
          <a:ln w="15875">
            <a:solidFill>
              <a:srgbClr val="1F6F8B">
                <a:alpha val="75000"/>
              </a:srgbClr>
            </a:solidFill>
            <a:prstDash val="solid"/>
          </a:ln>
        </p:spPr>
      </p:sp>
      <p:sp>
        <p:nvSpPr>
          <p:cNvPr id="8" name="Shape 6"/>
          <p:cNvSpPr/>
          <p:nvPr/>
        </p:nvSpPr>
        <p:spPr>
          <a:xfrm flipH="1">
            <a:off x="9509760" y="1645920"/>
            <a:ext cx="1097280" cy="182880"/>
          </a:xfrm>
          <a:prstGeom prst="line">
            <a:avLst/>
          </a:prstGeom>
          <a:noFill/>
          <a:ln w="15875">
            <a:solidFill>
              <a:srgbClr val="1F6F8B">
                <a:alpha val="75000"/>
              </a:srgbClr>
            </a:solidFill>
            <a:prstDash val="solid"/>
          </a:ln>
        </p:spPr>
      </p:sp>
      <p:sp>
        <p:nvSpPr>
          <p:cNvPr id="9" name="Shape 7"/>
          <p:cNvSpPr/>
          <p:nvPr/>
        </p:nvSpPr>
        <p:spPr>
          <a:xfrm flipH="1">
            <a:off x="9509760" y="1188720"/>
            <a:ext cx="365760" cy="640080"/>
          </a:xfrm>
          <a:prstGeom prst="line">
            <a:avLst/>
          </a:prstGeom>
          <a:noFill/>
          <a:ln w="15875">
            <a:solidFill>
              <a:srgbClr val="1F6F8B">
                <a:alpha val="75000"/>
              </a:srgbClr>
            </a:solidFill>
            <a:prstDash val="solid"/>
          </a:ln>
        </p:spPr>
      </p:sp>
      <p:sp>
        <p:nvSpPr>
          <p:cNvPr id="10" name="Shape 8"/>
          <p:cNvSpPr/>
          <p:nvPr/>
        </p:nvSpPr>
        <p:spPr>
          <a:xfrm>
            <a:off x="1389888" y="1115568"/>
            <a:ext cx="146304" cy="146304"/>
          </a:xfrm>
          <a:prstGeom prst="ellipse">
            <a:avLst/>
          </a:prstGeom>
          <a:solidFill>
            <a:srgbClr val="CADCFC"/>
          </a:solidFill>
          <a:ln/>
        </p:spPr>
      </p:sp>
      <p:sp>
        <p:nvSpPr>
          <p:cNvPr id="11" name="Shape 9"/>
          <p:cNvSpPr/>
          <p:nvPr/>
        </p:nvSpPr>
        <p:spPr>
          <a:xfrm>
            <a:off x="2029968" y="704088"/>
            <a:ext cx="146304" cy="146304"/>
          </a:xfrm>
          <a:prstGeom prst="ellipse">
            <a:avLst/>
          </a:prstGeom>
          <a:solidFill>
            <a:srgbClr val="CADCFC"/>
          </a:solidFill>
          <a:ln/>
        </p:spPr>
      </p:sp>
      <p:sp>
        <p:nvSpPr>
          <p:cNvPr id="12" name="Shape 10"/>
          <p:cNvSpPr/>
          <p:nvPr/>
        </p:nvSpPr>
        <p:spPr>
          <a:xfrm>
            <a:off x="704088" y="841248"/>
            <a:ext cx="146304" cy="146304"/>
          </a:xfrm>
          <a:prstGeom prst="ellipse">
            <a:avLst/>
          </a:prstGeom>
          <a:solidFill>
            <a:srgbClr val="CADCFC"/>
          </a:solidFill>
          <a:ln/>
        </p:spPr>
      </p:sp>
      <p:sp>
        <p:nvSpPr>
          <p:cNvPr id="13" name="Shape 11"/>
          <p:cNvSpPr/>
          <p:nvPr/>
        </p:nvSpPr>
        <p:spPr>
          <a:xfrm>
            <a:off x="1755648" y="1527048"/>
            <a:ext cx="146304" cy="146304"/>
          </a:xfrm>
          <a:prstGeom prst="ellipse">
            <a:avLst/>
          </a:prstGeom>
          <a:solidFill>
            <a:srgbClr val="FF6B4A"/>
          </a:solidFill>
          <a:ln/>
        </p:spPr>
      </p:sp>
      <p:sp>
        <p:nvSpPr>
          <p:cNvPr id="14" name="Shape 12"/>
          <p:cNvSpPr/>
          <p:nvPr/>
        </p:nvSpPr>
        <p:spPr>
          <a:xfrm>
            <a:off x="2532888" y="1024128"/>
            <a:ext cx="146304" cy="146304"/>
          </a:xfrm>
          <a:prstGeom prst="ellipse">
            <a:avLst/>
          </a:prstGeom>
          <a:solidFill>
            <a:srgbClr val="CADCFC"/>
          </a:solidFill>
          <a:ln/>
        </p:spPr>
      </p:sp>
      <p:sp>
        <p:nvSpPr>
          <p:cNvPr id="15" name="Shape 13"/>
          <p:cNvSpPr/>
          <p:nvPr/>
        </p:nvSpPr>
        <p:spPr>
          <a:xfrm>
            <a:off x="9802368" y="1115568"/>
            <a:ext cx="146304" cy="146304"/>
          </a:xfrm>
          <a:prstGeom prst="ellipse">
            <a:avLst/>
          </a:prstGeom>
          <a:solidFill>
            <a:srgbClr val="CADCFC"/>
          </a:solidFill>
          <a:ln/>
        </p:spPr>
      </p:sp>
      <p:sp>
        <p:nvSpPr>
          <p:cNvPr id="16" name="Shape 14"/>
          <p:cNvSpPr/>
          <p:nvPr/>
        </p:nvSpPr>
        <p:spPr>
          <a:xfrm>
            <a:off x="10533888" y="1572768"/>
            <a:ext cx="146304" cy="146304"/>
          </a:xfrm>
          <a:prstGeom prst="ellipse">
            <a:avLst/>
          </a:prstGeom>
          <a:solidFill>
            <a:srgbClr val="CADCFC"/>
          </a:solidFill>
          <a:ln/>
        </p:spPr>
      </p:sp>
      <p:sp>
        <p:nvSpPr>
          <p:cNvPr id="17" name="Shape 15"/>
          <p:cNvSpPr/>
          <p:nvPr/>
        </p:nvSpPr>
        <p:spPr>
          <a:xfrm>
            <a:off x="9436608" y="1755648"/>
            <a:ext cx="146304" cy="146304"/>
          </a:xfrm>
          <a:prstGeom prst="ellipse">
            <a:avLst/>
          </a:prstGeom>
          <a:solidFill>
            <a:srgbClr val="CADCFC"/>
          </a:solidFill>
          <a:ln/>
        </p:spPr>
      </p:sp>
      <p:sp>
        <p:nvSpPr>
          <p:cNvPr id="18" name="Text 16"/>
          <p:cNvSpPr/>
          <p:nvPr/>
        </p:nvSpPr>
        <p:spPr>
          <a:xfrm>
            <a:off x="731520" y="2651760"/>
            <a:ext cx="73152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19" name="Text 17"/>
          <p:cNvSpPr/>
          <p:nvPr/>
        </p:nvSpPr>
        <p:spPr>
          <a:xfrm>
            <a:off x="777240" y="3520440"/>
            <a:ext cx="731520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20" name="Text 18"/>
          <p:cNvSpPr/>
          <p:nvPr/>
        </p:nvSpPr>
        <p:spPr>
          <a:xfrm>
            <a:off x="777240" y="6035040"/>
            <a:ext cx="9144000" cy="365760"/>
          </a:xfrm>
          <a:prstGeom prst="rect">
            <a:avLst/>
          </a:prstGeom>
          <a:noFill/>
          <a:ln/>
        </p:spPr>
        <p:txBody>
          <a:bodyPr wrap="square" rtlCol="0" anchor="ctr"/>
          <a:lstStyle/>
          <a:p>
            <a:pPr indent="0" marL="0">
              <a:buNone/>
            </a:pPr>
            <a:r>
              <a:rPr lang="en-US" sz="1100" dirty="0">
                <a:solidFill>
                  <a:srgbClr val="8A94A6"/>
                </a:solidFill>
                <a:latin typeface="Calibri" pitchFamily="34" charset="0"/>
                <a:ea typeface="Calibri" pitchFamily="34" charset="-122"/>
                <a:cs typeface="Calibri" pitchFamily="34" charset="-120"/>
              </a:rPr>
              <a:t>Repository: [your GitHub repo link]   ·   Base paper: doi.org/10.21203/rs.3.rs-4193412/v1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DistilBERT-GNN: Social Media Event Detection</dc:title>
  <dc:subject>PptxGenJS Presentation</dc:subject>
  <dc:creator>SNA Case Study</dc:creator>
  <cp:lastModifiedBy>SNA Case Study</cp:lastModifiedBy>
  <cp:revision>1</cp:revision>
  <dcterms:created xsi:type="dcterms:W3CDTF">2026-09-26T20:49:34Z</dcterms:created>
  <dcterms:modified xsi:type="dcterms:W3CDTF">2026-09-26T20:49:34Z</dcterms:modified>
</cp:coreProperties>
</file>